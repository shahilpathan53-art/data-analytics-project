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51A"/>
          </a:solidFill>
          <a:ln w="12700">
            <a:solidFill>
              <a:srgbClr val="0705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9B59F5">
              <a:alpha val="12000"/>
            </a:srgbClr>
          </a:solidFill>
          <a:ln w="12700">
            <a:solidFill>
              <a:srgbClr val="9B59F5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Graduate Admission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B59F5"/>
                </a:solidFill>
              </a:rPr>
              <a:t>Prediction System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200400" y="2606040"/>
            <a:ext cx="2743200" cy="18288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8BAA"/>
                </a:solidFill>
              </a:rPr>
              <a:t>PredictX — ML-Powered Admission Intelligence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920240" cy="77724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375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9B59F5"/>
                </a:solidFill>
              </a:rPr>
              <a:t>UNIVERSITY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354787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Veer Narmad South Gujarat University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42032" y="3291840"/>
            <a:ext cx="1920240" cy="77724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33375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9B59F5"/>
                </a:solidFill>
              </a:rPr>
              <a:t>COLLEGE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542032" y="354787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Dolat-Usha Institute, Valsad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3291840"/>
            <a:ext cx="1920240" cy="77724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33375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9B59F5"/>
                </a:solidFill>
              </a:rPr>
              <a:t>PROGRAM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626864" y="354787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Bachelor of Computer Applications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11696" y="3291840"/>
            <a:ext cx="1920240" cy="77724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33375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9B59F5"/>
                </a:solidFill>
              </a:rPr>
              <a:t>YEAR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711696" y="354787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2025 – 2026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Guide: Dr. Darshna Rajput  |  Presented by: Shahil Pathan · Mubin Malek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51A"/>
          </a:solidFill>
          <a:ln w="12700">
            <a:solidFill>
              <a:srgbClr val="0705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1463040" cy="256032"/>
          </a:xfrm>
          <a:prstGeom prst="rect">
            <a:avLst>
              <a:gd name="adj" fmla="val 17857"/>
            </a:avLst>
          </a:prstGeom>
          <a:solidFill>
            <a:srgbClr val="9B59F5">
              <a:alpha val="1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B59F5"/>
                </a:solidFill>
              </a:rPr>
              <a:t>⬡ 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Introduction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59F5"/>
                </a:solidFill>
              </a:rPr>
              <a:t>&amp; Problem Statement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5720" cy="640080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What is it?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647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AA"/>
                </a:solidFill>
              </a:rPr>
              <a:t>A data analytics web project that predicts graduate admission chances using ML models trained on real academic data.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45720" cy="640080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Problem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AA"/>
                </a:solidFill>
              </a:rPr>
              <a:t>Students applying for graduate programs often don't know their chances of admission based on their academic profile.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5720" cy="640080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20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Solution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7764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AA"/>
                </a:solidFill>
              </a:rPr>
              <a:t>Analyze academic data (GRE, TOEFL, CGPA, Research etc.) and build a predictive model to estimate admission probability.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1554480"/>
            <a:ext cx="1828800" cy="77724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6093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59F5"/>
                </a:solidFill>
              </a:rPr>
              <a:t>500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2064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8BAA"/>
                </a:solidFill>
              </a:rPr>
              <a:t>Records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132320" y="1554480"/>
            <a:ext cx="1828800" cy="777240"/>
          </a:xfrm>
          <a:prstGeom prst="rect">
            <a:avLst/>
          </a:prstGeom>
          <a:solidFill>
            <a:srgbClr val="13103A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16093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8BAA"/>
                </a:solidFill>
              </a:rPr>
              <a:t>Features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120640" y="2514600"/>
            <a:ext cx="1828800" cy="77724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5694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59F5"/>
                </a:solidFill>
              </a:rPr>
              <a:t>96%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12064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8BAA"/>
                </a:solidFill>
              </a:rPr>
              <a:t>Accuracy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2514600"/>
            <a:ext cx="1828800" cy="777240"/>
          </a:xfrm>
          <a:prstGeom prst="rect">
            <a:avLst/>
          </a:prstGeom>
          <a:solidFill>
            <a:srgbClr val="13103A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25694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Linear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3232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8BAA"/>
                </a:solidFill>
              </a:rPr>
              <a:t>Regression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51A"/>
          </a:solidFill>
          <a:ln w="12700">
            <a:solidFill>
              <a:srgbClr val="0705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1463040" cy="256032"/>
          </a:xfrm>
          <a:prstGeom prst="rect">
            <a:avLst>
              <a:gd name="adj" fmla="val 17857"/>
            </a:avLst>
          </a:prstGeom>
          <a:solidFill>
            <a:srgbClr val="9B59F5">
              <a:alpha val="1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B59F5"/>
                </a:solidFill>
              </a:rPr>
              <a:t>⬡ GOALS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Project Objectives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651760" cy="141732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2651760" cy="292608"/>
          </a:xfrm>
          <a:prstGeom prst="rect">
            <a:avLst/>
          </a:prstGeom>
          <a:solidFill>
            <a:srgbClr val="9B59F5">
              <a:alpha val="2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990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B59F5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7190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 Analysis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199339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Analyze the Graduate Admission dataset with 500 records and 9 columns.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651760" cy="141732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371600"/>
            <a:ext cx="2651760" cy="292608"/>
          </a:xfrm>
          <a:prstGeom prst="rect">
            <a:avLst/>
          </a:prstGeom>
          <a:solidFill>
            <a:srgbClr val="9B59F5">
              <a:alpha val="2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3990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B59F5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01568" y="17190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Exploratory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199339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Perform EDA to find patterns and correlations between features.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651760" cy="141732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371600"/>
            <a:ext cx="2651760" cy="292608"/>
          </a:xfrm>
          <a:prstGeom prst="rect">
            <a:avLst/>
          </a:prstGeom>
          <a:solidFill>
            <a:srgbClr val="9B59F5">
              <a:alpha val="2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3990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B59F5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36208" y="17190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Regression 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36208" y="199339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Build a Linear Regression model to predict admission probability.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2651760" cy="141732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26080"/>
            <a:ext cx="2651760" cy="292608"/>
          </a:xfrm>
          <a:prstGeom prst="rect">
            <a:avLst/>
          </a:prstGeom>
          <a:solidFill>
            <a:srgbClr val="9B59F5">
              <a:alpha val="2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535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B59F5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32735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Classification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354787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Classify results into High, Moderate, and Low chance categories.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2926080"/>
            <a:ext cx="2651760" cy="141732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926080"/>
            <a:ext cx="2651760" cy="292608"/>
          </a:xfrm>
          <a:prstGeom prst="rect">
            <a:avLst/>
          </a:prstGeom>
          <a:solidFill>
            <a:srgbClr val="9B59F5">
              <a:alpha val="2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29535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B59F5"/>
                </a:solidFill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01568" y="32735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Web Dashboard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01568" y="354787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Develop an interactive Flask web app with charts and prediction UI.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2926080"/>
            <a:ext cx="2651760" cy="141732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2926080"/>
            <a:ext cx="2651760" cy="292608"/>
          </a:xfrm>
          <a:prstGeom prst="rect">
            <a:avLst/>
          </a:prstGeom>
          <a:solidFill>
            <a:srgbClr val="9B59F5">
              <a:alpha val="2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29535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B59F5"/>
                </a:solidFill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36208" y="32735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Visualization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36208" y="354787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Create scatter plots, heatmaps, histograms, and distribution charts.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51A"/>
          </a:solidFill>
          <a:ln w="12700">
            <a:solidFill>
              <a:srgbClr val="0705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1463040" cy="256032"/>
          </a:xfrm>
          <a:prstGeom prst="rect">
            <a:avLst>
              <a:gd name="adj" fmla="val 17857"/>
            </a:avLst>
          </a:prstGeom>
          <a:solidFill>
            <a:srgbClr val="9B59F5">
              <a:alpha val="1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B59F5"/>
                </a:solidFill>
              </a:rPr>
              <a:t>⬡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Dataset Overview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AA"/>
                </a:solidFill>
              </a:rPr>
              <a:t>Admission Predict Ver1.1 — 500 records · 9 columns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920240" cy="77724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7218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59F5"/>
                </a:solidFill>
              </a:rPr>
              <a:t>500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8BAA"/>
                </a:solidFill>
              </a:rPr>
              <a:t>Rows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42032" y="1417320"/>
            <a:ext cx="1920240" cy="777240"/>
          </a:xfrm>
          <a:prstGeom prst="rect">
            <a:avLst/>
          </a:prstGeom>
          <a:solidFill>
            <a:srgbClr val="13103A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47218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42032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8BAA"/>
                </a:solidFill>
              </a:rPr>
              <a:t>Columns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26864" y="1417320"/>
            <a:ext cx="1920240" cy="77724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47218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59F5"/>
                </a:solidFill>
              </a:rPr>
              <a:t>7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26864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8BAA"/>
                </a:solidFill>
              </a:rPr>
              <a:t>Features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11696" y="1417320"/>
            <a:ext cx="1920240" cy="777240"/>
          </a:xfrm>
          <a:prstGeom prst="rect">
            <a:avLst/>
          </a:prstGeom>
          <a:solidFill>
            <a:srgbClr val="13103A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147218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0.34–0.97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11696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8BAA"/>
                </a:solidFill>
              </a:rPr>
              <a:t>Chance Range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solidFill>
            <a:srgbClr val="9B59F5">
              <a:alpha val="2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4048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FEATURE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08960" y="24048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RANGE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63440" y="240487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DESCRIPTION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670048"/>
            <a:ext cx="8229600" cy="274320"/>
          </a:xfrm>
          <a:prstGeom prst="rect">
            <a:avLst/>
          </a:prstGeom>
          <a:solidFill>
            <a:srgbClr val="13103A"/>
          </a:solidFill>
          <a:ln w="12700">
            <a:solidFill>
              <a:srgbClr val="0705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70662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59F5"/>
                </a:solidFill>
              </a:rPr>
              <a:t>GRE Score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108960" y="270662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</a:rPr>
              <a:t>290–340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26280" y="270662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Graduate Record Exam Score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298094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C3F7"/>
                </a:solidFill>
              </a:rPr>
              <a:t>TOEFL Score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08960" y="298094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</a:rPr>
              <a:t>92–120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26280" y="298094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English Proficiency Score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218688"/>
            <a:ext cx="8229600" cy="274320"/>
          </a:xfrm>
          <a:prstGeom prst="rect">
            <a:avLst/>
          </a:prstGeom>
          <a:solidFill>
            <a:srgbClr val="13103A"/>
          </a:solidFill>
          <a:ln w="12700">
            <a:solidFill>
              <a:srgbClr val="0705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25526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</a:rPr>
              <a:t>Univ. Rating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108960" y="325526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</a:rPr>
              <a:t>1–5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26280" y="325526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University Rating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352958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59F5"/>
                </a:solidFill>
              </a:rPr>
              <a:t>SOP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108960" y="352958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</a:rPr>
              <a:t>1–5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26280" y="352958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Statement of Purpose Strength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767328"/>
            <a:ext cx="8229600" cy="274320"/>
          </a:xfrm>
          <a:prstGeom prst="rect">
            <a:avLst/>
          </a:prstGeom>
          <a:solidFill>
            <a:srgbClr val="13103A"/>
          </a:solidFill>
          <a:ln w="12700">
            <a:solidFill>
              <a:srgbClr val="0705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80390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C3F7"/>
                </a:solidFill>
              </a:rPr>
              <a:t>LOR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108960" y="380390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</a:rPr>
              <a:t>1–5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26280" y="380390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Letter of Recommendation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8640" y="407822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</a:rPr>
              <a:t>CGPA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108960" y="407822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</a:rPr>
              <a:t>6.8–9.92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26280" y="407822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Undergraduate GPA (Most Important)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solidFill>
            <a:srgbClr val="13103A"/>
          </a:solidFill>
          <a:ln w="12700">
            <a:solidFill>
              <a:srgbClr val="0705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35254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59F5"/>
                </a:solidFill>
              </a:rPr>
              <a:t>Research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108960" y="435254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</a:rPr>
              <a:t>0 or 1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26280" y="435254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Research Experience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8640" y="462686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81"/>
                </a:solidFill>
              </a:rPr>
              <a:t>Chance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108960" y="462686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</a:rPr>
              <a:t>0.34–0.97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26280" y="462686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Target: Probability of Admission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51A"/>
          </a:solidFill>
          <a:ln w="12700">
            <a:solidFill>
              <a:srgbClr val="0705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1463040" cy="256032"/>
          </a:xfrm>
          <a:prstGeom prst="rect">
            <a:avLst>
              <a:gd name="adj" fmla="val 17857"/>
            </a:avLst>
          </a:prstGeom>
          <a:solidFill>
            <a:srgbClr val="9B59F5">
              <a:alpha val="1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B59F5"/>
                </a:solidFill>
              </a:rPr>
              <a:t>⬡ STACK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Tools &amp; Technologies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606040" cy="100584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990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78992" y="1417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Core programming language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78992" y="1673352"/>
            <a:ext cx="274320" cy="27432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325880"/>
            <a:ext cx="2606040" cy="1005840"/>
          </a:xfrm>
          <a:prstGeom prst="rect">
            <a:avLst/>
          </a:prstGeom>
          <a:solidFill>
            <a:srgbClr val="13103A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990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🐼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13632" y="1417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Pandas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13632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Data manipulation &amp; analysis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13632" y="1673352"/>
            <a:ext cx="27432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325880"/>
            <a:ext cx="2606040" cy="1005840"/>
          </a:xfrm>
          <a:prstGeom prst="rect">
            <a:avLst/>
          </a:prstGeom>
          <a:solidFill>
            <a:srgbClr val="13103A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3990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48272" y="1417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NumPy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48272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Numerical computations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48272" y="1673352"/>
            <a:ext cx="27432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468880"/>
            <a:ext cx="2606040" cy="100584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420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78992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Matplotlib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78992" y="2834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Static data visualization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78992" y="2816352"/>
            <a:ext cx="274320" cy="27432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468880"/>
            <a:ext cx="2606040" cy="1005840"/>
          </a:xfrm>
          <a:prstGeom prst="rect">
            <a:avLst/>
          </a:prstGeom>
          <a:solidFill>
            <a:srgbClr val="13103A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5420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913632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Seaborn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13632" y="2834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Statistical visualizations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13632" y="2816352"/>
            <a:ext cx="27432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2468880"/>
            <a:ext cx="2606040" cy="1005840"/>
          </a:xfrm>
          <a:prstGeom prst="rect">
            <a:avLst/>
          </a:prstGeom>
          <a:solidFill>
            <a:srgbClr val="13103A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5420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748272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Scikit-Learn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48272" y="2834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ML model training &amp; evaluation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48272" y="2816352"/>
            <a:ext cx="27432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611880"/>
            <a:ext cx="2606040" cy="100584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6850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078992" y="3703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Flask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78992" y="3977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Web framework &amp; routing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78992" y="3959352"/>
            <a:ext cx="274320" cy="27432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0" y="3611880"/>
            <a:ext cx="2606040" cy="1005840"/>
          </a:xfrm>
          <a:prstGeom prst="rect">
            <a:avLst/>
          </a:prstGeom>
          <a:solidFill>
            <a:srgbClr val="13103A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36850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3913632" y="3703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HTML / CSS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913632" y="3977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Frontend UI &amp; styling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913632" y="3959352"/>
            <a:ext cx="27432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3611880"/>
            <a:ext cx="2606040" cy="1005840"/>
          </a:xfrm>
          <a:prstGeom prst="rect">
            <a:avLst/>
          </a:prstGeom>
          <a:solidFill>
            <a:srgbClr val="13103A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36850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748272" y="3703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Chart.js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748272" y="3977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Interactive charts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748272" y="3959352"/>
            <a:ext cx="27432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51A"/>
          </a:solidFill>
          <a:ln w="12700">
            <a:solidFill>
              <a:srgbClr val="0705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1463040" cy="256032"/>
          </a:xfrm>
          <a:prstGeom prst="rect">
            <a:avLst>
              <a:gd name="adj" fmla="val 17857"/>
            </a:avLst>
          </a:prstGeom>
          <a:solidFill>
            <a:srgbClr val="9B59F5">
              <a:alpha val="1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B59F5"/>
                </a:solidFill>
              </a:rPr>
              <a:t>⬡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Exploratory Data Analysis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47472" cy="347472"/>
          </a:xfrm>
          <a:prstGeom prst="rect">
            <a:avLst/>
          </a:prstGeom>
          <a:solidFill>
            <a:srgbClr val="9B59F5">
              <a:alpha val="20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6245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F5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344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Data Cleaning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63677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</a:rPr>
              <a:t>Removed unnecessary columns (Serial No) and formatted dataset for ML pipeline using Pandas.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347472" cy="347472"/>
          </a:xfrm>
          <a:prstGeom prst="rect">
            <a:avLst/>
          </a:prstGeom>
          <a:solidFill>
            <a:srgbClr val="9B59F5">
              <a:alpha val="20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3113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F5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2128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Missing Values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50545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</a:rPr>
              <a:t>Checked for null values — dataset was clean with no missing entries across all 500 records.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47472" cy="347472"/>
          </a:xfrm>
          <a:prstGeom prst="rect">
            <a:avLst/>
          </a:prstGeom>
          <a:solidFill>
            <a:srgbClr val="9B59F5">
              <a:alpha val="20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9981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F5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3081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Visualization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37413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</a:rPr>
              <a:t>Created scatter plots, bar charts, heatmaps, histograms to identify patterns and distributions.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347472" cy="347472"/>
          </a:xfrm>
          <a:prstGeom prst="rect">
            <a:avLst/>
          </a:prstGeom>
          <a:solidFill>
            <a:srgbClr val="9B59F5">
              <a:alpha val="20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6849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F5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3950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Correlation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24281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</a:rPr>
              <a:t>CGPA (0.88), GRE (0.81), TOEFL (0.79) showed strongest correlation with admission chance.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12080" y="1325880"/>
            <a:ext cx="3474720" cy="338328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1325880"/>
            <a:ext cx="3474720" cy="320040"/>
          </a:xfrm>
          <a:prstGeom prst="rect">
            <a:avLst/>
          </a:prstGeom>
          <a:solidFill>
            <a:srgbClr val="9B59F5">
              <a:alpha val="2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353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KEY FINDINGS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49240" y="1783080"/>
            <a:ext cx="54864" cy="274320"/>
          </a:xfrm>
          <a:prstGeom prst="rect">
            <a:avLst/>
          </a:prstGeom>
          <a:solidFill>
            <a:srgbClr val="00E581"/>
          </a:solidFill>
          <a:ln w="12700">
            <a:solidFill>
              <a:srgbClr val="00E5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CGPA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1783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Strongest predictor (0.88 corr.)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49240" y="2286000"/>
            <a:ext cx="54864" cy="2743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GRE Score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22860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High impact (0.81 corr.)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49240" y="2788920"/>
            <a:ext cx="54864" cy="2743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2788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TOEFL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27889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Strong influence (0.79 corr.)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49240" y="3291840"/>
            <a:ext cx="54864" cy="27432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Research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0" y="3291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Boosts chance by ~15%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49240" y="3794760"/>
            <a:ext cx="54864" cy="274320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3794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Avg Chance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0" y="37947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72% across all 500 students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49240" y="4297680"/>
            <a:ext cx="54864" cy="274320"/>
          </a:xfrm>
          <a:prstGeom prst="rect">
            <a:avLst/>
          </a:prstGeom>
          <a:solidFill>
            <a:srgbClr val="00E581"/>
          </a:solidFill>
          <a:ln w="12700">
            <a:solidFill>
              <a:srgbClr val="00E5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0" y="4297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 Chance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58000" y="42976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Students with CGPA &gt; 9.0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51A"/>
          </a:solidFill>
          <a:ln w="12700">
            <a:solidFill>
              <a:srgbClr val="0705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1463040" cy="256032"/>
          </a:xfrm>
          <a:prstGeom prst="rect">
            <a:avLst>
              <a:gd name="adj" fmla="val 17857"/>
            </a:avLst>
          </a:prstGeom>
          <a:solidFill>
            <a:srgbClr val="9B59F5">
              <a:alpha val="1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B59F5"/>
                </a:solidFill>
              </a:rPr>
              <a:t>⬡ ML MODEL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Machine Learning Model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920240" cy="77724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930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59F5"/>
                </a:solidFill>
              </a:rPr>
              <a:t>81.88%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8BAA"/>
                </a:solidFill>
              </a:rPr>
              <a:t>R² Score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42032" y="1234440"/>
            <a:ext cx="1920240" cy="777240"/>
          </a:xfrm>
          <a:prstGeom prst="rect">
            <a:avLst/>
          </a:prstGeom>
          <a:solidFill>
            <a:srgbClr val="13103A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28930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0.0427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42032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8BAA"/>
                </a:solidFill>
              </a:rPr>
              <a:t>MAE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26864" y="1234440"/>
            <a:ext cx="1920240" cy="77724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28930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59F5"/>
                </a:solidFill>
              </a:rPr>
              <a:t>0.0609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26864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8BAA"/>
                </a:solidFill>
              </a:rPr>
              <a:t>RMSE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11696" y="1234440"/>
            <a:ext cx="1920240" cy="777240"/>
          </a:xfrm>
          <a:prstGeom prst="rect">
            <a:avLst/>
          </a:prstGeom>
          <a:solidFill>
            <a:srgbClr val="13103A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696" y="128930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400/100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11696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8BAA"/>
                </a:solidFill>
              </a:rPr>
              <a:t>Train/Test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148840"/>
            <a:ext cx="5029200" cy="274320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148840"/>
            <a:ext cx="5029200" cy="274320"/>
          </a:xfrm>
          <a:prstGeom prst="rect">
            <a:avLst/>
          </a:prstGeom>
          <a:solidFill>
            <a:srgbClr val="9B59F5">
              <a:alpha val="2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671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FEATURE IMPORTANCE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2560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CGPA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03120" y="2615184"/>
            <a:ext cx="2834640" cy="128016"/>
          </a:xfrm>
          <a:prstGeom prst="rect">
            <a:avLst/>
          </a:prstGeom>
          <a:solidFill>
            <a:srgbClr val="1A1740"/>
          </a:solidFill>
          <a:ln w="12700">
            <a:solidFill>
              <a:srgbClr val="1A17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03120" y="2615184"/>
            <a:ext cx="1950232" cy="128016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5603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59F5"/>
                </a:solidFill>
              </a:rPr>
              <a:t>68.8%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4360" y="28803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Research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03120" y="2935224"/>
            <a:ext cx="2834640" cy="128016"/>
          </a:xfrm>
          <a:prstGeom prst="rect">
            <a:avLst/>
          </a:prstGeom>
          <a:solidFill>
            <a:srgbClr val="1A1740"/>
          </a:solidFill>
          <a:ln w="12700">
            <a:solidFill>
              <a:srgbClr val="1A17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03120" y="2935224"/>
            <a:ext cx="416692" cy="12801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8803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C3F7"/>
                </a:solidFill>
              </a:rPr>
              <a:t>14.7%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94360" y="32004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03120" y="3255264"/>
            <a:ext cx="2834640" cy="128016"/>
          </a:xfrm>
          <a:prstGeom prst="rect">
            <a:avLst/>
          </a:prstGeom>
          <a:solidFill>
            <a:srgbClr val="1A1740"/>
          </a:solidFill>
          <a:ln w="12700">
            <a:solidFill>
              <a:srgbClr val="1A17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03120" y="3255264"/>
            <a:ext cx="297637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2004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FF"/>
                </a:solidFill>
              </a:rPr>
              <a:t>10.5%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4360" y="35204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TOEFL Score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103120" y="3575304"/>
            <a:ext cx="2834640" cy="128016"/>
          </a:xfrm>
          <a:prstGeom prst="rect">
            <a:avLst/>
          </a:prstGeom>
          <a:solidFill>
            <a:srgbClr val="1A1740"/>
          </a:solidFill>
          <a:ln w="12700">
            <a:solidFill>
              <a:srgbClr val="1A17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03120" y="3575304"/>
            <a:ext cx="51024" cy="128016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5204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59F5"/>
                </a:solidFill>
              </a:rPr>
              <a:t>1.8%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94360" y="38404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Univ. Rating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103120" y="3895344"/>
            <a:ext cx="2834640" cy="128016"/>
          </a:xfrm>
          <a:prstGeom prst="rect">
            <a:avLst/>
          </a:prstGeom>
          <a:solidFill>
            <a:srgbClr val="1A1740"/>
          </a:solidFill>
          <a:ln w="12700">
            <a:solidFill>
              <a:srgbClr val="1A17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03120" y="3895344"/>
            <a:ext cx="45354" cy="12801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8404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C3F7"/>
                </a:solidFill>
              </a:rPr>
              <a:t>1.6%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94360" y="41605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GRE Score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103120" y="4215384"/>
            <a:ext cx="2834640" cy="128016"/>
          </a:xfrm>
          <a:prstGeom prst="rect">
            <a:avLst/>
          </a:prstGeom>
          <a:solidFill>
            <a:srgbClr val="1A1740"/>
          </a:solidFill>
          <a:ln w="12700">
            <a:solidFill>
              <a:srgbClr val="1A174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03120" y="4215384"/>
            <a:ext cx="42520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83480" y="41605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FF"/>
                </a:solidFill>
              </a:rPr>
              <a:t>1.5%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94360" y="44805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SOP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103120" y="4535424"/>
            <a:ext cx="2834640" cy="128016"/>
          </a:xfrm>
          <a:prstGeom prst="rect">
            <a:avLst/>
          </a:prstGeom>
          <a:solidFill>
            <a:srgbClr val="1A1740"/>
          </a:solidFill>
          <a:ln w="12700">
            <a:solidFill>
              <a:srgbClr val="1A174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103120" y="4535424"/>
            <a:ext cx="31181" cy="128016"/>
          </a:xfrm>
          <a:prstGeom prst="rect">
            <a:avLst/>
          </a:prstGeom>
          <a:solidFill>
            <a:srgbClr val="8B8BAA"/>
          </a:solidFill>
          <a:ln w="12700">
            <a:solidFill>
              <a:srgbClr val="8B8B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83480" y="44805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8BAA"/>
                </a:solidFill>
              </a:rPr>
              <a:t>1.1%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669280" y="2148840"/>
            <a:ext cx="3017520" cy="2743200"/>
          </a:xfrm>
          <a:prstGeom prst="rect">
            <a:avLst/>
          </a:prstGeom>
          <a:solidFill>
            <a:srgbClr val="13103A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2148840"/>
            <a:ext cx="3017520" cy="274320"/>
          </a:xfrm>
          <a:prstGeom prst="rect">
            <a:avLst/>
          </a:prstGeom>
          <a:solidFill>
            <a:srgbClr val="4FC3F7">
              <a:alpha val="25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0" y="21671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TRAINING PIPELINE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806440" y="2596896"/>
            <a:ext cx="201168" cy="201168"/>
          </a:xfrm>
          <a:prstGeom prst="rect">
            <a:avLst/>
          </a:prstGeom>
          <a:solidFill>
            <a:srgbClr val="4FC3F7">
              <a:alpha val="25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06440" y="25968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C3F7"/>
                </a:solidFill>
              </a:rPr>
              <a:t>1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080760" y="2560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Load CSV Dataset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806440" y="2916936"/>
            <a:ext cx="201168" cy="201168"/>
          </a:xfrm>
          <a:prstGeom prst="rect">
            <a:avLst/>
          </a:prstGeom>
          <a:solidFill>
            <a:srgbClr val="4FC3F7">
              <a:alpha val="25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06440" y="29169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C3F7"/>
                </a:solidFill>
              </a:rPr>
              <a:t>2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080760" y="2880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Clean &amp; Format Data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806440" y="3236976"/>
            <a:ext cx="201168" cy="201168"/>
          </a:xfrm>
          <a:prstGeom prst="rect">
            <a:avLst/>
          </a:prstGeom>
          <a:solidFill>
            <a:srgbClr val="4FC3F7">
              <a:alpha val="25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06440" y="32369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C3F7"/>
                </a:solidFill>
              </a:rPr>
              <a:t>3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080760" y="3200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Select 7 Features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806440" y="3557016"/>
            <a:ext cx="201168" cy="201168"/>
          </a:xfrm>
          <a:prstGeom prst="rect">
            <a:avLst/>
          </a:prstGeom>
          <a:solidFill>
            <a:srgbClr val="4FC3F7">
              <a:alpha val="25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06440" y="3557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C3F7"/>
                </a:solidFill>
              </a:rPr>
              <a:t>4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080760" y="3520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80/20 Train-Test Split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806440" y="3877056"/>
            <a:ext cx="201168" cy="201168"/>
          </a:xfrm>
          <a:prstGeom prst="rect">
            <a:avLst/>
          </a:prstGeom>
          <a:solidFill>
            <a:srgbClr val="4FC3F7">
              <a:alpha val="25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06440" y="38770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C3F7"/>
                </a:solidFill>
              </a:rPr>
              <a:t>5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08076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Fit Linear Regression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806440" y="4197096"/>
            <a:ext cx="201168" cy="201168"/>
          </a:xfrm>
          <a:prstGeom prst="rect">
            <a:avLst/>
          </a:prstGeom>
          <a:solidFill>
            <a:srgbClr val="4FC3F7">
              <a:alpha val="25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06440" y="41970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C3F7"/>
                </a:solidFill>
              </a:rPr>
              <a:t>6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080760" y="4160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Evaluate R², MAE, RMSE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806440" y="4517136"/>
            <a:ext cx="201168" cy="201168"/>
          </a:xfrm>
          <a:prstGeom prst="rect">
            <a:avLst/>
          </a:prstGeom>
          <a:solidFill>
            <a:srgbClr val="4FC3F7">
              <a:alpha val="25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06440" y="45171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C3F7"/>
                </a:solidFill>
              </a:rPr>
              <a:t>7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080760" y="4480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Save as .pkl File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51A"/>
          </a:solidFill>
          <a:ln w="12700">
            <a:solidFill>
              <a:srgbClr val="0705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1463040" cy="256032"/>
          </a:xfrm>
          <a:prstGeom prst="rect">
            <a:avLst>
              <a:gd name="adj" fmla="val 17857"/>
            </a:avLst>
          </a:prstGeom>
          <a:solidFill>
            <a:srgbClr val="9B59F5">
              <a:alpha val="1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B59F5"/>
                </a:solidFill>
              </a:rPr>
              <a:t>⬡ DASHBOARD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Web Dashboard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F5"/>
                </a:solidFill>
              </a:rPr>
              <a:t>Home Page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Prediction Page</a:t>
            </a:r>
            <a:endParaRPr lang="en-US" sz="1300" dirty="0"/>
          </a:p>
        </p:txBody>
      </p:sp>
      <p:pic>
        <p:nvPicPr>
          <p:cNvPr id="9" name="Image 0" descr="/home/claude/ss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4206240" cy="2377440"/>
          </a:xfrm>
          <a:prstGeom prst="rect">
            <a:avLst/>
          </a:prstGeom>
        </p:spPr>
      </p:pic>
      <p:pic>
        <p:nvPicPr>
          <p:cNvPr id="10" name="Image 1" descr="/home/claude/ss_predic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371600"/>
            <a:ext cx="3840480" cy="23774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3840480"/>
            <a:ext cx="4206240" cy="228600"/>
          </a:xfrm>
          <a:prstGeom prst="rect">
            <a:avLst/>
          </a:prstGeom>
          <a:solidFill>
            <a:srgbClr val="9B59F5">
              <a:alpha val="20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38404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Graduate Admission Prediction System — Home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846320" y="3840480"/>
            <a:ext cx="3840480" cy="228600"/>
          </a:xfrm>
          <a:prstGeom prst="rect">
            <a:avLst/>
          </a:prstGeom>
          <a:solidFill>
            <a:srgbClr val="4FC3F7">
              <a:alpha val="20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46320" y="38404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AI Prediction Engine — Academic Profile Form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51A"/>
          </a:solidFill>
          <a:ln w="12700">
            <a:solidFill>
              <a:srgbClr val="0705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1463040" cy="256032"/>
          </a:xfrm>
          <a:prstGeom prst="rect">
            <a:avLst>
              <a:gd name="adj" fmla="val 17857"/>
            </a:avLst>
          </a:prstGeom>
          <a:solidFill>
            <a:srgbClr val="9B59F5">
              <a:alpha val="1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B59F5"/>
                </a:solidFill>
              </a:rPr>
              <a:t>⬡ OUTPUT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Prediction Result &amp; Dataset Explorer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81"/>
                </a:solidFill>
              </a:rPr>
              <a:t>Prediction Result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Raw Dataset Explorer</a:t>
            </a:r>
            <a:endParaRPr lang="en-US" sz="1200" dirty="0"/>
          </a:p>
        </p:txBody>
      </p:sp>
      <p:pic>
        <p:nvPicPr>
          <p:cNvPr id="9" name="Image 0" descr="/home/claude/ss_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4206240" cy="1280160"/>
          </a:xfrm>
          <a:prstGeom prst="rect">
            <a:avLst/>
          </a:prstGeom>
        </p:spPr>
      </p:pic>
      <p:pic>
        <p:nvPicPr>
          <p:cNvPr id="10" name="Image 1" descr="/home/claude/ss_datase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417320"/>
            <a:ext cx="3840480" cy="2468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2788920"/>
            <a:ext cx="4206240" cy="1554480"/>
          </a:xfrm>
          <a:prstGeom prst="rect">
            <a:avLst/>
          </a:prstGeom>
          <a:solidFill>
            <a:srgbClr val="13103A"/>
          </a:solidFill>
          <a:ln w="6350">
            <a:solidFill>
              <a:srgbClr val="00E58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889504"/>
            <a:ext cx="91440" cy="256032"/>
          </a:xfrm>
          <a:prstGeom prst="rect">
            <a:avLst/>
          </a:prstGeom>
          <a:solidFill>
            <a:srgbClr val="00E581"/>
          </a:solidFill>
          <a:ln w="12700">
            <a:solidFill>
              <a:srgbClr val="00E58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28529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81"/>
                </a:solidFill>
              </a:rPr>
              <a:t>HIGH CHANCE ≥ 80%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77240" y="30815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A"/>
                </a:solidFill>
              </a:rPr>
              <a:t>Green badge — Strong admission probability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94360" y="3364992"/>
            <a:ext cx="91440" cy="25603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7240" y="3328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400"/>
                </a:solidFill>
              </a:rPr>
              <a:t>MODERATE ≥ 50%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777240" y="35570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A"/>
                </a:solidFill>
              </a:rPr>
              <a:t>Amber badge — Fair admission probability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94360" y="3840480"/>
            <a:ext cx="91440" cy="256032"/>
          </a:xfrm>
          <a:prstGeom prst="rect">
            <a:avLst/>
          </a:prstGeom>
          <a:solidFill>
            <a:srgbClr val="FF4141"/>
          </a:solidFill>
          <a:ln w="12700">
            <a:solidFill>
              <a:srgbClr val="FF414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7240" y="38039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141"/>
                </a:solidFill>
              </a:rPr>
              <a:t>LOW CHANCE &lt; 50%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777240" y="40325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A"/>
                </a:solidFill>
              </a:rPr>
              <a:t>Red badge — Low admission probability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51A"/>
          </a:solidFill>
          <a:ln w="12700">
            <a:solidFill>
              <a:srgbClr val="0705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1463040" cy="256032"/>
          </a:xfrm>
          <a:prstGeom prst="rect">
            <a:avLst>
              <a:gd name="adj" fmla="val 17857"/>
            </a:avLst>
          </a:prstGeom>
          <a:solidFill>
            <a:srgbClr val="9B59F5">
              <a:alpha val="1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B59F5"/>
                </a:solidFill>
              </a:rPr>
              <a:t>⬡ CHARTS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Visualizations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BAA"/>
                </a:solidFill>
              </a:rPr>
              <a:t>All 6 charts from the Analytics Dashboard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697480" cy="182880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pic>
        <p:nvPicPr>
          <p:cNvPr id="9" name="Image 0" descr="/home/claude/ss_g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280160"/>
            <a:ext cx="2551176" cy="1508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2807208"/>
            <a:ext cx="2697480" cy="274320"/>
          </a:xfrm>
          <a:prstGeom prst="rect">
            <a:avLst/>
          </a:prstGeom>
          <a:solidFill>
            <a:srgbClr val="9B59F5">
              <a:alpha val="20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80720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GRE vs Admission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319272" y="1234440"/>
            <a:ext cx="2697480" cy="1828800"/>
          </a:xfrm>
          <a:prstGeom prst="rect">
            <a:avLst/>
          </a:prstGeom>
          <a:solidFill>
            <a:srgbClr val="13103A"/>
          </a:solidFill>
          <a:ln w="6350">
            <a:solidFill>
              <a:srgbClr val="4FC3F7"/>
            </a:solidFill>
            <a:prstDash val="solid"/>
          </a:ln>
        </p:spPr>
      </p:sp>
      <p:pic>
        <p:nvPicPr>
          <p:cNvPr id="13" name="Image 1" descr="/home/claude/ss_cgpa_rat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92424" y="1280160"/>
            <a:ext cx="2551176" cy="1508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319272" y="2807208"/>
            <a:ext cx="2697480" cy="274320"/>
          </a:xfrm>
          <a:prstGeom prst="rect">
            <a:avLst/>
          </a:prstGeom>
          <a:solidFill>
            <a:srgbClr val="4FC3F7">
              <a:alpha val="20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319272" y="280720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CGPA vs Univ. Rating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6181344" y="1234440"/>
            <a:ext cx="2697480" cy="1828800"/>
          </a:xfrm>
          <a:prstGeom prst="rect">
            <a:avLst/>
          </a:prstGeom>
          <a:solidFill>
            <a:srgbClr val="13103A"/>
          </a:solidFill>
          <a:ln w="6350">
            <a:solidFill>
              <a:srgbClr val="00E5FF"/>
            </a:solidFill>
            <a:prstDash val="solid"/>
          </a:ln>
        </p:spPr>
      </p:sp>
      <p:pic>
        <p:nvPicPr>
          <p:cNvPr id="17" name="Image 2" descr="/home/claude/ss_rati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54496" y="1280160"/>
            <a:ext cx="2551176" cy="15087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181344" y="2807208"/>
            <a:ext cx="2697480" cy="274320"/>
          </a:xfrm>
          <a:prstGeom prst="rect">
            <a:avLst/>
          </a:prstGeom>
          <a:solidFill>
            <a:srgbClr val="00E5FF">
              <a:alpha val="20000"/>
            </a:srgbClr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181344" y="280720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Univ. Rating Dist.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57200" y="3200400"/>
            <a:ext cx="2697480" cy="182880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pic>
        <p:nvPicPr>
          <p:cNvPr id="21" name="Image 3" descr="/home/claude/ss_heatmap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0352" y="3246120"/>
            <a:ext cx="2551176" cy="150876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57200" y="4773168"/>
            <a:ext cx="2697480" cy="274320"/>
          </a:xfrm>
          <a:prstGeom prst="rect">
            <a:avLst/>
          </a:prstGeom>
          <a:solidFill>
            <a:srgbClr val="9B59F5">
              <a:alpha val="20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57200" y="47731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Correlation Heatmap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3319272" y="3200400"/>
            <a:ext cx="2697480" cy="1828800"/>
          </a:xfrm>
          <a:prstGeom prst="rect">
            <a:avLst/>
          </a:prstGeom>
          <a:solidFill>
            <a:srgbClr val="13103A"/>
          </a:solidFill>
          <a:ln w="6350">
            <a:solidFill>
              <a:srgbClr val="4FC3F7"/>
            </a:solidFill>
            <a:prstDash val="solid"/>
          </a:ln>
        </p:spPr>
      </p:sp>
      <p:pic>
        <p:nvPicPr>
          <p:cNvPr id="25" name="Image 4" descr="/home/claude/ss_cgpa_dist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392424" y="3246120"/>
            <a:ext cx="2551176" cy="150876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3319272" y="4773168"/>
            <a:ext cx="2697480" cy="274320"/>
          </a:xfrm>
          <a:prstGeom prst="rect">
            <a:avLst/>
          </a:prstGeom>
          <a:solidFill>
            <a:srgbClr val="4FC3F7">
              <a:alpha val="20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3319272" y="47731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CGPA Distribution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6181344" y="3200400"/>
            <a:ext cx="2697480" cy="1828800"/>
          </a:xfrm>
          <a:prstGeom prst="rect">
            <a:avLst/>
          </a:prstGeom>
          <a:solidFill>
            <a:srgbClr val="13103A"/>
          </a:solidFill>
          <a:ln w="6350">
            <a:solidFill>
              <a:srgbClr val="00E581"/>
            </a:solidFill>
            <a:prstDash val="solid"/>
          </a:ln>
        </p:spPr>
      </p:sp>
      <p:pic>
        <p:nvPicPr>
          <p:cNvPr id="29" name="Image 5" descr="/home/claude/ss_research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254496" y="3246120"/>
            <a:ext cx="2551176" cy="150876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181344" y="4773168"/>
            <a:ext cx="2697480" cy="274320"/>
          </a:xfrm>
          <a:prstGeom prst="rect">
            <a:avLst/>
          </a:prstGeom>
          <a:solidFill>
            <a:srgbClr val="00E581">
              <a:alpha val="20000"/>
            </a:srgbClr>
          </a:solidFill>
          <a:ln w="6350">
            <a:solidFill>
              <a:srgbClr val="00E581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181344" y="47731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 Analysis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51A"/>
          </a:solidFill>
          <a:ln w="12700">
            <a:solidFill>
              <a:srgbClr val="0705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1463040" cy="256032"/>
          </a:xfrm>
          <a:prstGeom prst="rect">
            <a:avLst>
              <a:gd name="adj" fmla="val 17857"/>
            </a:avLst>
          </a:prstGeom>
          <a:solidFill>
            <a:srgbClr val="9B59F5">
              <a:alpha val="1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B59F5"/>
                </a:solidFill>
              </a:rPr>
              <a:t>⬡ INSIGHTS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 Insights Page</a:t>
            </a:r>
            <a:endParaRPr lang="en-US" sz="2800" dirty="0"/>
          </a:p>
        </p:txBody>
      </p:sp>
      <p:pic>
        <p:nvPicPr>
          <p:cNvPr id="7" name="Image 0" descr="/home/claude/ss_mod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822960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AA"/>
                </a:solidFill>
              </a:rPr>
              <a:t>Feature Importance · Model Metrics · Training Pipeline · Coefficients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51A"/>
          </a:solidFill>
          <a:ln w="12700">
            <a:solidFill>
              <a:srgbClr val="0705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1463040" cy="256032"/>
          </a:xfrm>
          <a:prstGeom prst="rect">
            <a:avLst>
              <a:gd name="adj" fmla="val 17857"/>
            </a:avLst>
          </a:prstGeom>
          <a:solidFill>
            <a:srgbClr val="9B59F5">
              <a:alpha val="1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B59F5"/>
                </a:solidFill>
              </a:rPr>
              <a:t>⬡ RESULTS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Results &amp; Performance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920240" cy="109728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59F5"/>
                </a:solidFill>
              </a:rPr>
              <a:t>96%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AA"/>
                </a:solidFill>
              </a:rPr>
              <a:t>MAE-Based Accuracy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42032" y="1234440"/>
            <a:ext cx="1920240" cy="1097280"/>
          </a:xfrm>
          <a:prstGeom prst="rect">
            <a:avLst/>
          </a:prstGeom>
          <a:solidFill>
            <a:srgbClr val="13103A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29844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</a:rPr>
              <a:t>81.88%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42032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AA"/>
                </a:solidFill>
              </a:rPr>
              <a:t>R² Score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26864" y="1234440"/>
            <a:ext cx="1920240" cy="1097280"/>
          </a:xfrm>
          <a:prstGeom prst="rect">
            <a:avLst/>
          </a:prstGeom>
          <a:solidFill>
            <a:srgbClr val="13103A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29844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FF"/>
                </a:solidFill>
              </a:rPr>
              <a:t>0.0427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26864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AA"/>
                </a:solidFill>
              </a:rPr>
              <a:t>Mean Absolute Error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11696" y="1234440"/>
            <a:ext cx="1920240" cy="1097280"/>
          </a:xfrm>
          <a:prstGeom prst="rect">
            <a:avLst/>
          </a:prstGeom>
          <a:solidFill>
            <a:srgbClr val="13103A"/>
          </a:solidFill>
          <a:ln w="6350">
            <a:solidFill>
              <a:srgbClr val="00E5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696" y="129844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81"/>
                </a:solidFill>
              </a:rPr>
              <a:t>72%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11696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AA"/>
                </a:solidFill>
              </a:rPr>
              <a:t>Avg Admission Chance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423160"/>
            <a:ext cx="8229600" cy="251460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solidFill>
            <a:srgbClr val="9B59F5">
              <a:alpha val="2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4414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ACHIEVEMENTS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Successfully built a Linear Regression model with 96% accuracy (MAE-based)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1363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CGPA identified as strongest predictor with 0.88 correlation to admission chance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48386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Research experience boosts admission probability by approximately 15%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83133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AA"/>
                </a:solidFill>
              </a:rPr>
              <a:t>✓  Interactive web dashboard with 6 charts, dataset explorer, and model insights page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1788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AA"/>
                </a:solidFill>
              </a:rPr>
              <a:t>✓  Three-tier classification: High Chance (≥80%), Moderate (≥50%), Low (&lt;50%)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AA"/>
                </a:solidFill>
              </a:rPr>
              <a:t>✓  Full-stack project: Python ML backend + Flask API + Cyberpunk-themed frontend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51A"/>
          </a:solidFill>
          <a:ln w="12700">
            <a:solidFill>
              <a:srgbClr val="0705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1463040" cy="256032"/>
          </a:xfrm>
          <a:prstGeom prst="rect">
            <a:avLst>
              <a:gd name="adj" fmla="val 17857"/>
            </a:avLst>
          </a:prstGeom>
          <a:solidFill>
            <a:srgbClr val="9B59F5">
              <a:alpha val="1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B59F5"/>
                </a:solidFill>
              </a:rPr>
              <a:t>⬡ CONCLUSION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&amp; Future Scope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114800" cy="356616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4114800" cy="292608"/>
          </a:xfrm>
          <a:prstGeom prst="rect">
            <a:avLst/>
          </a:prstGeom>
          <a:solidFill>
            <a:srgbClr val="9B59F5">
              <a:alpha val="2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161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73152" cy="274320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5727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The system successfully predicts graduate admission probability using academic features.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2103120"/>
            <a:ext cx="73152" cy="274320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0756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Linear Regression model achieved 96% accuracy with minimal error (MAE: 0.0427).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2606040"/>
            <a:ext cx="73152" cy="274320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5786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CGPA is the most influential factor, followed by Research Experience and LOR.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3108960"/>
            <a:ext cx="73152" cy="274320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815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The web dashboard provides an intuitive interface for students to assess their chances.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611880"/>
            <a:ext cx="73152" cy="274320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84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Data visualizations provide deep insights into admission patterns and feature relationships.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3931920" cy="3566160"/>
          </a:xfrm>
          <a:prstGeom prst="rect">
            <a:avLst/>
          </a:prstGeom>
          <a:solidFill>
            <a:srgbClr val="13103A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188720"/>
            <a:ext cx="3931920" cy="292608"/>
          </a:xfrm>
          <a:prstGeom prst="rect">
            <a:avLst/>
          </a:prstGeom>
          <a:solidFill>
            <a:srgbClr val="4FC3F7">
              <a:alpha val="25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161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FUTURE SCOPE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16002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🗄️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57800" y="16002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Larger Datasets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57800" y="18196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A"/>
                </a:solidFill>
              </a:rPr>
              <a:t>Use real university admission data with 10,000+ records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216712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216712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Advanced Models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23865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A"/>
                </a:solidFill>
              </a:rPr>
              <a:t>Implement Random Forest, Gradient Boosting for higher R²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0" y="273405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57800" y="2734056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Mobile App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29535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A"/>
                </a:solidFill>
              </a:rPr>
              <a:t>Develop iOS/Android version for on-the-go predictions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0" y="330098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57800" y="330098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Live Data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57800" y="3520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A"/>
                </a:solidFill>
              </a:rPr>
              <a:t>Integrate real-time university admission feeds via APIs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46320" y="386791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57800" y="386791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User Profiles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57800" y="40873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A"/>
                </a:solidFill>
              </a:rPr>
              <a:t>Add login system to save and track prediction history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51A"/>
          </a:solidFill>
          <a:ln w="12700">
            <a:solidFill>
              <a:srgbClr val="0705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1463040" cy="256032"/>
          </a:xfrm>
          <a:prstGeom prst="rect">
            <a:avLst>
              <a:gd name="adj" fmla="val 17857"/>
            </a:avLst>
          </a:prstGeom>
          <a:solidFill>
            <a:srgbClr val="9B59F5">
              <a:alpha val="15000"/>
            </a:srgbClr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B59F5"/>
                </a:solidFill>
              </a:rPr>
              <a:t>⬡ REFERENCES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References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31920" cy="96012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5331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Dataset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6276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Admission Predict Ver1.1 — Kaggle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18562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FC3F7"/>
                </a:solidFill>
              </a:rPr>
              <a:t>https://www.kaggle.com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1280160"/>
            <a:ext cx="3931920" cy="96012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5331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4924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16276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Official Python Documentation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49240" y="18562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FC3F7"/>
                </a:solidFill>
              </a:rPr>
              <a:t>https://docs.python.org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3931920" cy="96012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45059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Scikit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7249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Scikit-Learn ML Library Docs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" y="29535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FC3F7"/>
                </a:solidFill>
              </a:rPr>
              <a:t>https://scikit-learn.org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2377440"/>
            <a:ext cx="3931920" cy="96012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45059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🐼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4924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Pandas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27249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Pandas Data Analysis Library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49240" y="29535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FC3F7"/>
                </a:solidFill>
              </a:rPr>
              <a:t>https://pandas.pydata.org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3474720"/>
            <a:ext cx="3931920" cy="96012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54787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9728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Matplotlib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38221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Matplotlib Visualization Docs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" y="40507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FC3F7"/>
                </a:solidFill>
              </a:rPr>
              <a:t>https://matplotlib.org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3474720"/>
            <a:ext cx="3931920" cy="96012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54787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4924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Flask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38221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A"/>
                </a:solidFill>
              </a:rPr>
              <a:t>Flask Web Framework Docs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49240" y="40507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FC3F7"/>
                </a:solidFill>
              </a:rPr>
              <a:t>https://flask.palletsprojects.com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51A"/>
          </a:solidFill>
          <a:ln w="12700">
            <a:solidFill>
              <a:srgbClr val="0705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731520"/>
            <a:ext cx="3657600" cy="3657600"/>
          </a:xfrm>
          <a:prstGeom prst="ellipse">
            <a:avLst/>
          </a:prstGeom>
          <a:solidFill>
            <a:srgbClr val="9B59F5">
              <a:alpha val="10000"/>
            </a:srgbClr>
          </a:solidFill>
          <a:ln w="12700">
            <a:solidFill>
              <a:srgbClr val="9B59F5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59F5"/>
                </a:solidFill>
              </a:rPr>
              <a:t>PredictX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 — Graduate Admission Prediction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0" y="2788920"/>
            <a:ext cx="3657600" cy="27432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BAA"/>
                </a:solidFill>
              </a:rPr>
              <a:t>Presented by: Shahil Pathan · Mubin Malek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BAA"/>
                </a:solidFill>
              </a:rPr>
              <a:t>Guide: Dr. Darshna Rajput  |  Dolat-Usha Institute  |  BCA 2025–26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3794760"/>
            <a:ext cx="1737360" cy="68580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8130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4133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AA"/>
                </a:solidFill>
              </a:rPr>
              <a:t>BCA Program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0" y="3794760"/>
            <a:ext cx="1737360" cy="68580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38130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🏛️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4133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AA"/>
                </a:solidFill>
              </a:rPr>
              <a:t>Dolat-Usha Institute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852160" y="3794760"/>
            <a:ext cx="1737360" cy="685800"/>
          </a:xfrm>
          <a:prstGeom prst="rect">
            <a:avLst/>
          </a:prstGeom>
          <a:solidFill>
            <a:srgbClr val="13103A"/>
          </a:solidFill>
          <a:ln w="6350">
            <a:solidFill>
              <a:srgbClr val="9B59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38130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52160" y="4133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AA"/>
                </a:solidFill>
              </a:rPr>
              <a:t>2025–2026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Graduate Admission Prediction System</dc:title>
  <dc:subject>PptxGenJS Presentation</dc:subject>
  <dc:creator>Shahil Pathan</dc:creator>
  <cp:lastModifiedBy>Shahil Pathan</cp:lastModifiedBy>
  <cp:revision>1</cp:revision>
  <dcterms:created xsi:type="dcterms:W3CDTF">2026-03-19T03:15:14Z</dcterms:created>
  <dcterms:modified xsi:type="dcterms:W3CDTF">2026-03-19T03:15:14Z</dcterms:modified>
</cp:coreProperties>
</file>