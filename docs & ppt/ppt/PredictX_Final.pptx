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05840" y="594360"/>
            <a:ext cx="7132320" cy="3246120"/>
          </a:xfrm>
          <a:prstGeom prst="roundRect">
            <a:avLst>
              <a:gd name="adj" fmla="val 7042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188720" y="822960"/>
            <a:ext cx="6766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Graduate Admission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1188720" y="1463040"/>
            <a:ext cx="6766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4B8EF5"/>
                </a:solidFill>
              </a:rPr>
              <a:t>Prediction System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1188720" y="2240280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99AA"/>
                </a:solidFill>
              </a:rPr>
              <a:t>PredictX — ML-Powered Admission Intelligence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1143000" y="2633472"/>
            <a:ext cx="1600200" cy="1005840"/>
          </a:xfrm>
          <a:prstGeom prst="rect">
            <a:avLst/>
          </a:prstGeom>
          <a:solidFill>
            <a:srgbClr val="0D0D2B">
              <a:alpha val="65000"/>
            </a:srgbClr>
          </a:solidFill>
          <a:ln w="6350">
            <a:solidFill>
              <a:srgbClr val="4B8EF5">
                <a:alpha val="45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43000" y="2670048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spc="150" kern="0" dirty="0">
                <a:solidFill>
                  <a:srgbClr val="4B8EF5"/>
                </a:solidFill>
              </a:rPr>
              <a:t>UNIVERSITY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1143000" y="288036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Veer Narmad South Gujarat Univ.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2852928" y="2633472"/>
            <a:ext cx="1600200" cy="1005840"/>
          </a:xfrm>
          <a:prstGeom prst="rect">
            <a:avLst/>
          </a:prstGeom>
          <a:solidFill>
            <a:srgbClr val="0D0D2B">
              <a:alpha val="65000"/>
            </a:srgbClr>
          </a:solidFill>
          <a:ln w="6350">
            <a:solidFill>
              <a:srgbClr val="4B8EF5">
                <a:alpha val="45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852928" y="2670048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spc="150" kern="0" dirty="0">
                <a:solidFill>
                  <a:srgbClr val="4B8EF5"/>
                </a:solidFill>
              </a:rPr>
              <a:t>COLLEGE</a:t>
            </a:r>
            <a:endParaRPr lang="en-US" sz="650" dirty="0"/>
          </a:p>
        </p:txBody>
      </p:sp>
      <p:sp>
        <p:nvSpPr>
          <p:cNvPr id="12" name="Text 9"/>
          <p:cNvSpPr/>
          <p:nvPr/>
        </p:nvSpPr>
        <p:spPr>
          <a:xfrm>
            <a:off x="2852928" y="288036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Dolat-Usha Institute, Valsad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562856" y="2633472"/>
            <a:ext cx="1600200" cy="1005840"/>
          </a:xfrm>
          <a:prstGeom prst="rect">
            <a:avLst/>
          </a:prstGeom>
          <a:solidFill>
            <a:srgbClr val="0D0D2B">
              <a:alpha val="65000"/>
            </a:srgbClr>
          </a:solidFill>
          <a:ln w="6350">
            <a:solidFill>
              <a:srgbClr val="4B8EF5">
                <a:alpha val="4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62856" y="2670048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spc="150" kern="0" dirty="0">
                <a:solidFill>
                  <a:srgbClr val="4B8EF5"/>
                </a:solidFill>
              </a:rPr>
              <a:t>PROGRAM</a:t>
            </a:r>
            <a:endParaRPr lang="en-US" sz="650" dirty="0"/>
          </a:p>
        </p:txBody>
      </p:sp>
      <p:sp>
        <p:nvSpPr>
          <p:cNvPr id="15" name="Text 12"/>
          <p:cNvSpPr/>
          <p:nvPr/>
        </p:nvSpPr>
        <p:spPr>
          <a:xfrm>
            <a:off x="4562856" y="288036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Bachelor of Computer Applications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6272784" y="2633472"/>
            <a:ext cx="1600200" cy="1005840"/>
          </a:xfrm>
          <a:prstGeom prst="rect">
            <a:avLst/>
          </a:prstGeom>
          <a:solidFill>
            <a:srgbClr val="0D0D2B">
              <a:alpha val="65000"/>
            </a:srgbClr>
          </a:solidFill>
          <a:ln w="6350">
            <a:solidFill>
              <a:srgbClr val="4B8EF5">
                <a:alpha val="45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72784" y="2670048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spc="150" kern="0" dirty="0">
                <a:solidFill>
                  <a:srgbClr val="4B8EF5"/>
                </a:solidFill>
              </a:rPr>
              <a:t>YEAR</a:t>
            </a:r>
            <a:endParaRPr lang="en-US" sz="650" dirty="0"/>
          </a:p>
        </p:txBody>
      </p:sp>
      <p:sp>
        <p:nvSpPr>
          <p:cNvPr id="18" name="Text 15"/>
          <p:cNvSpPr/>
          <p:nvPr/>
        </p:nvSpPr>
        <p:spPr>
          <a:xfrm>
            <a:off x="6272784" y="288036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2025 – 2026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0" y="473659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Guide: Dr. Darshna Rajput  |  Shahil Pathan · Mubin Malek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201168"/>
            <a:ext cx="1737360" cy="256032"/>
          </a:xfrm>
          <a:prstGeom prst="roundRect">
            <a:avLst>
              <a:gd name="adj" fmla="val 50000"/>
            </a:avLst>
          </a:prstGeom>
          <a:solidFill>
            <a:srgbClr val="4B8EF5">
              <a:alpha val="28000"/>
            </a:srgbClr>
          </a:solidFill>
          <a:ln w="8890">
            <a:solidFill>
              <a:srgbClr val="4B8EF5">
                <a:alpha val="72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2286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OVERVIEW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457200" y="548640"/>
            <a:ext cx="4572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Introduction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457200" y="1133856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4FF"/>
                </a:solidFill>
              </a:rPr>
              <a:t>&amp; Problem Statement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457200" y="1691640"/>
            <a:ext cx="4663440" cy="841248"/>
          </a:xfrm>
          <a:prstGeom prst="rect">
            <a:avLst/>
          </a:prstGeom>
          <a:solidFill>
            <a:srgbClr val="111140">
              <a:alpha val="58000"/>
            </a:srgbClr>
          </a:solidFill>
          <a:ln w="8890">
            <a:solidFill>
              <a:srgbClr val="00D4FF">
                <a:alpha val="42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94360" y="1892808"/>
            <a:ext cx="347472" cy="347472"/>
          </a:xfrm>
          <a:prstGeom prst="ellipse">
            <a:avLst/>
          </a:prstGeom>
          <a:solidFill>
            <a:srgbClr val="00D4FF">
              <a:alpha val="35000"/>
            </a:srgbClr>
          </a:solidFill>
          <a:ln w="12700">
            <a:solidFill>
              <a:srgbClr val="00D4FF">
                <a:alpha val="58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51560" y="17830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</a:rPr>
              <a:t>What is it?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51560" y="2075688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</a:rPr>
              <a:t>A data analytics ML project predicting graduate admission chances from academic records.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57200" y="2651760"/>
            <a:ext cx="4663440" cy="841248"/>
          </a:xfrm>
          <a:prstGeom prst="rect">
            <a:avLst/>
          </a:prstGeom>
          <a:solidFill>
            <a:srgbClr val="111140">
              <a:alpha val="58000"/>
            </a:srgbClr>
          </a:solidFill>
          <a:ln w="8890">
            <a:solidFill>
              <a:srgbClr val="FF7043">
                <a:alpha val="42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94360" y="2852928"/>
            <a:ext cx="347472" cy="347472"/>
          </a:xfrm>
          <a:prstGeom prst="ellipse">
            <a:avLst/>
          </a:prstGeom>
          <a:solidFill>
            <a:srgbClr val="FF7043">
              <a:alpha val="35000"/>
            </a:srgbClr>
          </a:solidFill>
          <a:ln w="12700">
            <a:solidFill>
              <a:srgbClr val="FF7043">
                <a:alpha val="58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51560" y="27432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7043"/>
                </a:solidFill>
              </a:rPr>
              <a:t>Problem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51560" y="3035808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</a:rPr>
              <a:t>Students don't know their admission chances before applying to graduate programs.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57200" y="3611880"/>
            <a:ext cx="4663440" cy="841248"/>
          </a:xfrm>
          <a:prstGeom prst="rect">
            <a:avLst/>
          </a:prstGeom>
          <a:solidFill>
            <a:srgbClr val="111140">
              <a:alpha val="58000"/>
            </a:srgbClr>
          </a:solidFill>
          <a:ln w="8890">
            <a:solidFill>
              <a:srgbClr val="4B8EF5">
                <a:alpha val="42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94360" y="3813048"/>
            <a:ext cx="347472" cy="347472"/>
          </a:xfrm>
          <a:prstGeom prst="ellipse">
            <a:avLst/>
          </a:prstGeom>
          <a:solidFill>
            <a:srgbClr val="4B8EF5">
              <a:alpha val="35000"/>
            </a:srgbClr>
          </a:solidFill>
          <a:ln w="12700">
            <a:solidFill>
              <a:srgbClr val="4B8EF5">
                <a:alpha val="58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51560" y="37033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B8EF5"/>
                </a:solidFill>
              </a:rPr>
              <a:t>Solution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51560" y="3995928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</a:rPr>
              <a:t>Analyze GRE, TOEFL, CGPA &amp; Research — build a model estimating admission probability.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349240" y="1572768"/>
            <a:ext cx="1719072" cy="1143000"/>
          </a:xfrm>
          <a:prstGeom prst="rect">
            <a:avLst/>
          </a:prstGeom>
          <a:solidFill>
            <a:srgbClr val="111140">
              <a:alpha val="58000"/>
            </a:srgbClr>
          </a:solidFill>
          <a:ln w="8890">
            <a:solidFill>
              <a:srgbClr val="4B8EF5">
                <a:alpha val="48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349240" y="1645920"/>
            <a:ext cx="1719072" cy="62179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B8EF5"/>
                </a:solidFill>
              </a:rPr>
              <a:t>500</a:t>
            </a:r>
            <a:endParaRPr lang="en-US" sz="3200" dirty="0"/>
          </a:p>
        </p:txBody>
      </p:sp>
      <p:sp>
        <p:nvSpPr>
          <p:cNvPr id="21" name="Text 18"/>
          <p:cNvSpPr/>
          <p:nvPr/>
        </p:nvSpPr>
        <p:spPr>
          <a:xfrm>
            <a:off x="5349240" y="2322576"/>
            <a:ext cx="1719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Records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7196328" y="1572768"/>
            <a:ext cx="1719072" cy="1143000"/>
          </a:xfrm>
          <a:prstGeom prst="rect">
            <a:avLst/>
          </a:prstGeom>
          <a:solidFill>
            <a:srgbClr val="111140">
              <a:alpha val="58000"/>
            </a:srgbClr>
          </a:solidFill>
          <a:ln w="8890">
            <a:solidFill>
              <a:srgbClr val="7B5CF0">
                <a:alpha val="48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196328" y="1645920"/>
            <a:ext cx="1719072" cy="62179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7B5CF0"/>
                </a:solidFill>
              </a:rPr>
              <a:t>7</a:t>
            </a:r>
            <a:endParaRPr lang="en-US" sz="3200" dirty="0"/>
          </a:p>
        </p:txBody>
      </p:sp>
      <p:sp>
        <p:nvSpPr>
          <p:cNvPr id="24" name="Text 21"/>
          <p:cNvSpPr/>
          <p:nvPr/>
        </p:nvSpPr>
        <p:spPr>
          <a:xfrm>
            <a:off x="7196328" y="2322576"/>
            <a:ext cx="1719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Features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349240" y="2852928"/>
            <a:ext cx="1719072" cy="1143000"/>
          </a:xfrm>
          <a:prstGeom prst="rect">
            <a:avLst/>
          </a:prstGeom>
          <a:solidFill>
            <a:srgbClr val="111140">
              <a:alpha val="58000"/>
            </a:srgbClr>
          </a:solidFill>
          <a:ln w="8890">
            <a:solidFill>
              <a:srgbClr val="00D4FF">
                <a:alpha val="48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349240" y="2926080"/>
            <a:ext cx="1719072" cy="62179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D4FF"/>
                </a:solidFill>
              </a:rPr>
              <a:t>96%</a:t>
            </a:r>
            <a:endParaRPr lang="en-US" sz="3200" dirty="0"/>
          </a:p>
        </p:txBody>
      </p:sp>
      <p:sp>
        <p:nvSpPr>
          <p:cNvPr id="27" name="Text 24"/>
          <p:cNvSpPr/>
          <p:nvPr/>
        </p:nvSpPr>
        <p:spPr>
          <a:xfrm>
            <a:off x="5349240" y="3602736"/>
            <a:ext cx="1719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Accuracy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7196328" y="2852928"/>
            <a:ext cx="1719072" cy="1143000"/>
          </a:xfrm>
          <a:prstGeom prst="rect">
            <a:avLst/>
          </a:prstGeom>
          <a:solidFill>
            <a:srgbClr val="111140">
              <a:alpha val="58000"/>
            </a:srgbClr>
          </a:solidFill>
          <a:ln w="8890">
            <a:solidFill>
              <a:srgbClr val="FF7043">
                <a:alpha val="4800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196328" y="2926080"/>
            <a:ext cx="1719072" cy="62179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7043"/>
                </a:solidFill>
              </a:rPr>
              <a:t>Linear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7043"/>
                </a:solidFill>
              </a:rPr>
              <a:t>Reg.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7196328" y="3602736"/>
            <a:ext cx="1719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Algorithm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201168"/>
            <a:ext cx="1737360" cy="256032"/>
          </a:xfrm>
          <a:prstGeom prst="roundRect">
            <a:avLst>
              <a:gd name="adj" fmla="val 50000"/>
            </a:avLst>
          </a:prstGeom>
          <a:solidFill>
            <a:srgbClr val="7B5CF0">
              <a:alpha val="28000"/>
            </a:srgbClr>
          </a:solidFill>
          <a:ln w="8890">
            <a:solidFill>
              <a:srgbClr val="7B5CF0">
                <a:alpha val="72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2286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PROJECT GOALS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457200" y="54864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Project 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2743200" y="54864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D4FF"/>
                </a:solidFill>
              </a:rPr>
              <a:t>Objectives</a:t>
            </a:r>
            <a:endParaRPr lang="en-US" sz="3600" dirty="0"/>
          </a:p>
        </p:txBody>
      </p:sp>
      <p:sp>
        <p:nvSpPr>
          <p:cNvPr id="7" name="Shape 4"/>
          <p:cNvSpPr/>
          <p:nvPr/>
        </p:nvSpPr>
        <p:spPr>
          <a:xfrm>
            <a:off x="365760" y="1298448"/>
            <a:ext cx="2761488" cy="1664208"/>
          </a:xfrm>
          <a:prstGeom prst="rect">
            <a:avLst/>
          </a:prstGeom>
          <a:solidFill>
            <a:srgbClr val="111140">
              <a:alpha val="58000"/>
            </a:srgbClr>
          </a:solidFill>
          <a:ln w="8890">
            <a:solidFill>
              <a:srgbClr val="4B8EF5">
                <a:alpha val="48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93776" y="1426464"/>
            <a:ext cx="475488" cy="475488"/>
          </a:xfrm>
          <a:prstGeom prst="ellipse">
            <a:avLst/>
          </a:prstGeom>
          <a:solidFill>
            <a:srgbClr val="4B8EF5">
              <a:alpha val="38000"/>
            </a:srgbClr>
          </a:solidFill>
          <a:ln w="12700">
            <a:solidFill>
              <a:srgbClr val="4B8EF5">
                <a:alpha val="62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93776" y="1435608"/>
            <a:ext cx="4754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78992" y="14630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8EF5"/>
                </a:solidFill>
              </a:rPr>
              <a:t>Dataset Analysis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93776" y="2011680"/>
            <a:ext cx="248716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Analyze 500-record dataset with 9 columns.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291840" y="1298448"/>
            <a:ext cx="2761488" cy="1664208"/>
          </a:xfrm>
          <a:prstGeom prst="rect">
            <a:avLst/>
          </a:prstGeom>
          <a:solidFill>
            <a:srgbClr val="111140">
              <a:alpha val="58000"/>
            </a:srgbClr>
          </a:solidFill>
          <a:ln w="8890">
            <a:solidFill>
              <a:srgbClr val="00D4FF">
                <a:alpha val="48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419856" y="1426464"/>
            <a:ext cx="475488" cy="475488"/>
          </a:xfrm>
          <a:prstGeom prst="ellipse">
            <a:avLst/>
          </a:prstGeom>
          <a:solidFill>
            <a:srgbClr val="00D4FF">
              <a:alpha val="38000"/>
            </a:srgbClr>
          </a:solidFill>
          <a:ln w="12700">
            <a:solidFill>
              <a:srgbClr val="00D4FF">
                <a:alpha val="62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419856" y="1435608"/>
            <a:ext cx="4754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005072" y="14630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</a:rPr>
              <a:t>Exploratory EDA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419856" y="2011680"/>
            <a:ext cx="248716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Find patterns and correlations in data.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217920" y="1298448"/>
            <a:ext cx="2761488" cy="1664208"/>
          </a:xfrm>
          <a:prstGeom prst="rect">
            <a:avLst/>
          </a:prstGeom>
          <a:solidFill>
            <a:srgbClr val="111140">
              <a:alpha val="58000"/>
            </a:srgbClr>
          </a:solidFill>
          <a:ln w="8890">
            <a:solidFill>
              <a:srgbClr val="7B5CF0">
                <a:alpha val="48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345936" y="1426464"/>
            <a:ext cx="475488" cy="475488"/>
          </a:xfrm>
          <a:prstGeom prst="ellipse">
            <a:avLst/>
          </a:prstGeom>
          <a:solidFill>
            <a:srgbClr val="7B5CF0">
              <a:alpha val="38000"/>
            </a:srgbClr>
          </a:solidFill>
          <a:ln w="12700">
            <a:solidFill>
              <a:srgbClr val="7B5CF0">
                <a:alpha val="62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45936" y="1435608"/>
            <a:ext cx="4754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931152" y="14630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5CF0"/>
                </a:solidFill>
              </a:rPr>
              <a:t>Regression Model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345936" y="2011680"/>
            <a:ext cx="248716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Build Linear Regression for prediction.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365760" y="3081528"/>
            <a:ext cx="2761488" cy="1664208"/>
          </a:xfrm>
          <a:prstGeom prst="rect">
            <a:avLst/>
          </a:prstGeom>
          <a:solidFill>
            <a:srgbClr val="111140">
              <a:alpha val="58000"/>
            </a:srgbClr>
          </a:solidFill>
          <a:ln w="8890">
            <a:solidFill>
              <a:srgbClr val="FF7043">
                <a:alpha val="48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93776" y="3209544"/>
            <a:ext cx="475488" cy="475488"/>
          </a:xfrm>
          <a:prstGeom prst="ellipse">
            <a:avLst/>
          </a:prstGeom>
          <a:solidFill>
            <a:srgbClr val="FF7043">
              <a:alpha val="38000"/>
            </a:srgbClr>
          </a:solidFill>
          <a:ln w="12700">
            <a:solidFill>
              <a:srgbClr val="FF7043">
                <a:alpha val="62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93776" y="3218688"/>
            <a:ext cx="4754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078992" y="32461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043"/>
                </a:solidFill>
              </a:rPr>
              <a:t>Classification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93776" y="3794760"/>
            <a:ext cx="248716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High (≥80%), Moderate (≥50%), Low (&lt;50%).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3291840" y="3081528"/>
            <a:ext cx="2761488" cy="1664208"/>
          </a:xfrm>
          <a:prstGeom prst="rect">
            <a:avLst/>
          </a:prstGeom>
          <a:solidFill>
            <a:srgbClr val="111140">
              <a:alpha val="58000"/>
            </a:srgbClr>
          </a:solidFill>
          <a:ln w="8890">
            <a:solidFill>
              <a:srgbClr val="4B8EF5">
                <a:alpha val="4800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419856" y="3209544"/>
            <a:ext cx="475488" cy="475488"/>
          </a:xfrm>
          <a:prstGeom prst="ellipse">
            <a:avLst/>
          </a:prstGeom>
          <a:solidFill>
            <a:srgbClr val="4B8EF5">
              <a:alpha val="38000"/>
            </a:srgbClr>
          </a:solidFill>
          <a:ln w="12700">
            <a:solidFill>
              <a:srgbClr val="4B8EF5">
                <a:alpha val="6200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419856" y="3218688"/>
            <a:ext cx="4754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4005072" y="32461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8EF5"/>
                </a:solidFill>
              </a:rPr>
              <a:t>Web Dashboard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3419856" y="3794760"/>
            <a:ext cx="248716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Flask app with prediction form &amp; charts.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6217920" y="3081528"/>
            <a:ext cx="2761488" cy="1664208"/>
          </a:xfrm>
          <a:prstGeom prst="rect">
            <a:avLst/>
          </a:prstGeom>
          <a:solidFill>
            <a:srgbClr val="111140">
              <a:alpha val="58000"/>
            </a:srgbClr>
          </a:solidFill>
          <a:ln w="8890">
            <a:solidFill>
              <a:srgbClr val="00D4FF">
                <a:alpha val="4800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345936" y="3209544"/>
            <a:ext cx="475488" cy="475488"/>
          </a:xfrm>
          <a:prstGeom prst="ellipse">
            <a:avLst/>
          </a:prstGeom>
          <a:solidFill>
            <a:srgbClr val="00D4FF">
              <a:alpha val="38000"/>
            </a:srgbClr>
          </a:solidFill>
          <a:ln w="12700">
            <a:solidFill>
              <a:srgbClr val="00D4FF">
                <a:alpha val="6200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345936" y="3218688"/>
            <a:ext cx="4754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06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6931152" y="32461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</a:rPr>
              <a:t>Visualization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345936" y="3794760"/>
            <a:ext cx="248716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Scatter plots, heatmaps, histograms.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201168"/>
            <a:ext cx="1737360" cy="256032"/>
          </a:xfrm>
          <a:prstGeom prst="roundRect">
            <a:avLst>
              <a:gd name="adj" fmla="val 50000"/>
            </a:avLst>
          </a:prstGeom>
          <a:solidFill>
            <a:srgbClr val="FF7043">
              <a:alpha val="28000"/>
            </a:srgbClr>
          </a:solidFill>
          <a:ln w="8890">
            <a:solidFill>
              <a:srgbClr val="FF7043">
                <a:alpha val="72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2286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DATASET INFO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457200" y="54864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Dataset 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2834640" y="5486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7043"/>
                </a:solidFill>
              </a:rPr>
              <a:t>Overview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457200" y="111556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9AA"/>
                </a:solidFill>
              </a:rPr>
              <a:t>Admission Predict Ver1.1  ·  500 Records  ·  9 Columns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1426464"/>
            <a:ext cx="2011680" cy="822960"/>
          </a:xfrm>
          <a:prstGeom prst="rect">
            <a:avLst/>
          </a:prstGeom>
          <a:solidFill>
            <a:srgbClr val="111140">
              <a:alpha val="58000"/>
            </a:srgbClr>
          </a:solidFill>
          <a:ln w="8890">
            <a:solidFill>
              <a:srgbClr val="4B8EF5">
                <a:alpha val="48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149047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B8EF5"/>
                </a:solidFill>
              </a:rPr>
              <a:t>500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457200" y="199339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50" kern="0" dirty="0">
                <a:solidFill>
                  <a:srgbClr val="8899AA"/>
                </a:solidFill>
              </a:rPr>
              <a:t>Rows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560320" y="1426464"/>
            <a:ext cx="2011680" cy="822960"/>
          </a:xfrm>
          <a:prstGeom prst="rect">
            <a:avLst/>
          </a:prstGeom>
          <a:solidFill>
            <a:srgbClr val="111140">
              <a:alpha val="58000"/>
            </a:srgbClr>
          </a:solidFill>
          <a:ln w="8890">
            <a:solidFill>
              <a:srgbClr val="00D4FF">
                <a:alpha val="48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560320" y="149047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D4FF"/>
                </a:solidFill>
              </a:rPr>
              <a:t>9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2560320" y="199339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50" kern="0" dirty="0">
                <a:solidFill>
                  <a:srgbClr val="8899AA"/>
                </a:solidFill>
              </a:rPr>
              <a:t>Columns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663440" y="1426464"/>
            <a:ext cx="2011680" cy="822960"/>
          </a:xfrm>
          <a:prstGeom prst="rect">
            <a:avLst/>
          </a:prstGeom>
          <a:solidFill>
            <a:srgbClr val="111140">
              <a:alpha val="58000"/>
            </a:srgbClr>
          </a:solidFill>
          <a:ln w="8890">
            <a:solidFill>
              <a:srgbClr val="7B5CF0">
                <a:alpha val="48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663440" y="149047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B5CF0"/>
                </a:solidFill>
              </a:rPr>
              <a:t>7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663440" y="199339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50" kern="0" dirty="0">
                <a:solidFill>
                  <a:srgbClr val="8899AA"/>
                </a:solidFill>
              </a:rPr>
              <a:t>Features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766560" y="1426464"/>
            <a:ext cx="2011680" cy="822960"/>
          </a:xfrm>
          <a:prstGeom prst="rect">
            <a:avLst/>
          </a:prstGeom>
          <a:solidFill>
            <a:srgbClr val="111140">
              <a:alpha val="58000"/>
            </a:srgbClr>
          </a:solidFill>
          <a:ln w="8890">
            <a:solidFill>
              <a:srgbClr val="FF7043">
                <a:alpha val="48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766560" y="149047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7043"/>
                </a:solidFill>
              </a:rPr>
              <a:t>0.34–0.97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766560" y="199339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50" kern="0" dirty="0">
                <a:solidFill>
                  <a:srgbClr val="8899AA"/>
                </a:solidFill>
              </a:rPr>
              <a:t>Range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57200" y="2359152"/>
            <a:ext cx="4224528" cy="530352"/>
          </a:xfrm>
          <a:prstGeom prst="rect">
            <a:avLst/>
          </a:prstGeom>
          <a:solidFill>
            <a:srgbClr val="11114A">
              <a:alpha val="52000"/>
            </a:srgbClr>
          </a:solidFill>
          <a:ln w="6350">
            <a:solidFill>
              <a:srgbClr val="4B8EF5">
                <a:alpha val="38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66928" y="2505456"/>
            <a:ext cx="228600" cy="228600"/>
          </a:xfrm>
          <a:prstGeom prst="ellipse">
            <a:avLst/>
          </a:prstGeom>
          <a:solidFill>
            <a:srgbClr val="4B8EF5">
              <a:alpha val="45000"/>
            </a:srgbClr>
          </a:solidFill>
          <a:ln w="12700">
            <a:solidFill>
              <a:srgbClr val="4B8EF5">
                <a:alpha val="60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77824" y="2414016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GRE Score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2331720" y="2414016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8EF5"/>
                </a:solidFill>
              </a:rPr>
              <a:t>290–340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877824" y="2633472"/>
            <a:ext cx="37307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</a:rPr>
              <a:t>Graduate Record Exam Score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457200" y="2944368"/>
            <a:ext cx="4224528" cy="530352"/>
          </a:xfrm>
          <a:prstGeom prst="rect">
            <a:avLst/>
          </a:prstGeom>
          <a:solidFill>
            <a:srgbClr val="11114A">
              <a:alpha val="52000"/>
            </a:srgbClr>
          </a:solidFill>
          <a:ln w="6350">
            <a:solidFill>
              <a:srgbClr val="00D4FF">
                <a:alpha val="3800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66928" y="3090672"/>
            <a:ext cx="228600" cy="228600"/>
          </a:xfrm>
          <a:prstGeom prst="ellipse">
            <a:avLst/>
          </a:prstGeom>
          <a:solidFill>
            <a:srgbClr val="00D4FF">
              <a:alpha val="45000"/>
            </a:srgbClr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77824" y="2999232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TOEFL Score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2331720" y="2999232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FF"/>
                </a:solidFill>
              </a:rPr>
              <a:t>92–120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877824" y="3218688"/>
            <a:ext cx="37307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</a:rPr>
              <a:t>English Proficiency Test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457200" y="3529584"/>
            <a:ext cx="4224528" cy="530352"/>
          </a:xfrm>
          <a:prstGeom prst="rect">
            <a:avLst/>
          </a:prstGeom>
          <a:solidFill>
            <a:srgbClr val="11114A">
              <a:alpha val="52000"/>
            </a:srgbClr>
          </a:solidFill>
          <a:ln w="6350">
            <a:solidFill>
              <a:srgbClr val="7B5CF0">
                <a:alpha val="3800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66928" y="3675888"/>
            <a:ext cx="228600" cy="228600"/>
          </a:xfrm>
          <a:prstGeom prst="ellipse">
            <a:avLst/>
          </a:prstGeom>
          <a:solidFill>
            <a:srgbClr val="7B5CF0">
              <a:alpha val="45000"/>
            </a:srgbClr>
          </a:solidFill>
          <a:ln w="12700">
            <a:solidFill>
              <a:srgbClr val="7B5CF0">
                <a:alpha val="6000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77824" y="3584448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Univ. Rating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2331720" y="3584448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5CF0"/>
                </a:solidFill>
              </a:rPr>
              <a:t>1–5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877824" y="3803904"/>
            <a:ext cx="37307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</a:rPr>
              <a:t>University Rating (1–5)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57200" y="4114800"/>
            <a:ext cx="4224528" cy="530352"/>
          </a:xfrm>
          <a:prstGeom prst="rect">
            <a:avLst/>
          </a:prstGeom>
          <a:solidFill>
            <a:srgbClr val="11114A">
              <a:alpha val="52000"/>
            </a:srgbClr>
          </a:solidFill>
          <a:ln w="6350">
            <a:solidFill>
              <a:srgbClr val="FF7043">
                <a:alpha val="3800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566928" y="4261104"/>
            <a:ext cx="228600" cy="228600"/>
          </a:xfrm>
          <a:prstGeom prst="ellipse">
            <a:avLst/>
          </a:prstGeom>
          <a:solidFill>
            <a:srgbClr val="FF7043">
              <a:alpha val="45000"/>
            </a:srgbClr>
          </a:solidFill>
          <a:ln w="12700">
            <a:solidFill>
              <a:srgbClr val="FF7043">
                <a:alpha val="6000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77824" y="4169664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SOP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2331720" y="4169664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7043"/>
                </a:solidFill>
              </a:rPr>
              <a:t>1–5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877824" y="4389120"/>
            <a:ext cx="37307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</a:rPr>
              <a:t>Statement of Purpose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4864608" y="2359152"/>
            <a:ext cx="4224528" cy="530352"/>
          </a:xfrm>
          <a:prstGeom prst="rect">
            <a:avLst/>
          </a:prstGeom>
          <a:solidFill>
            <a:srgbClr val="11114A">
              <a:alpha val="52000"/>
            </a:srgbClr>
          </a:solidFill>
          <a:ln w="6350">
            <a:solidFill>
              <a:srgbClr val="00BCD4">
                <a:alpha val="38000"/>
              </a:srgbClr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974336" y="2505456"/>
            <a:ext cx="228600" cy="228600"/>
          </a:xfrm>
          <a:prstGeom prst="ellipse">
            <a:avLst/>
          </a:prstGeom>
          <a:solidFill>
            <a:srgbClr val="00BCD4">
              <a:alpha val="45000"/>
            </a:srgbClr>
          </a:solidFill>
          <a:ln w="12700">
            <a:solidFill>
              <a:srgbClr val="00BCD4">
                <a:alpha val="60000"/>
              </a:srgbClr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285232" y="2414016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LOR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6739128" y="2414016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BCD4"/>
                </a:solidFill>
              </a:rPr>
              <a:t>1–5</a:t>
            </a:r>
            <a:endParaRPr lang="en-US" sz="950" dirty="0"/>
          </a:p>
        </p:txBody>
      </p:sp>
      <p:sp>
        <p:nvSpPr>
          <p:cNvPr id="44" name="Text 41"/>
          <p:cNvSpPr/>
          <p:nvPr/>
        </p:nvSpPr>
        <p:spPr>
          <a:xfrm>
            <a:off x="5285232" y="2633472"/>
            <a:ext cx="37307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</a:rPr>
              <a:t>Letter of Recommendation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4864608" y="2944368"/>
            <a:ext cx="4224528" cy="530352"/>
          </a:xfrm>
          <a:prstGeom prst="rect">
            <a:avLst/>
          </a:prstGeom>
          <a:solidFill>
            <a:srgbClr val="11114A">
              <a:alpha val="52000"/>
            </a:srgbClr>
          </a:solidFill>
          <a:ln w="6350">
            <a:solidFill>
              <a:srgbClr val="4B8EF5">
                <a:alpha val="38000"/>
              </a:srgbClr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974336" y="3090672"/>
            <a:ext cx="228600" cy="228600"/>
          </a:xfrm>
          <a:prstGeom prst="ellipse">
            <a:avLst/>
          </a:prstGeom>
          <a:solidFill>
            <a:srgbClr val="4B8EF5">
              <a:alpha val="45000"/>
            </a:srgbClr>
          </a:solidFill>
          <a:ln w="12700">
            <a:solidFill>
              <a:srgbClr val="4B8EF5">
                <a:alpha val="60000"/>
              </a:srgbClr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285232" y="2999232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CGPA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6739128" y="2999232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8EF5"/>
                </a:solidFill>
              </a:rPr>
              <a:t>6.8–9.92</a:t>
            </a:r>
            <a:endParaRPr lang="en-US" sz="950" dirty="0"/>
          </a:p>
        </p:txBody>
      </p:sp>
      <p:sp>
        <p:nvSpPr>
          <p:cNvPr id="49" name="Text 46"/>
          <p:cNvSpPr/>
          <p:nvPr/>
        </p:nvSpPr>
        <p:spPr>
          <a:xfrm>
            <a:off x="5285232" y="3218688"/>
            <a:ext cx="37307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</a:rPr>
              <a:t>Undergrad GPA — Top Predictor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4864608" y="3529584"/>
            <a:ext cx="4224528" cy="530352"/>
          </a:xfrm>
          <a:prstGeom prst="rect">
            <a:avLst/>
          </a:prstGeom>
          <a:solidFill>
            <a:srgbClr val="11114A">
              <a:alpha val="52000"/>
            </a:srgbClr>
          </a:solidFill>
          <a:ln w="6350">
            <a:solidFill>
              <a:srgbClr val="00D4FF">
                <a:alpha val="38000"/>
              </a:srgbClr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4974336" y="3675888"/>
            <a:ext cx="228600" cy="228600"/>
          </a:xfrm>
          <a:prstGeom prst="ellipse">
            <a:avLst/>
          </a:prstGeom>
          <a:solidFill>
            <a:srgbClr val="00D4FF">
              <a:alpha val="45000"/>
            </a:srgbClr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5285232" y="3584448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Research</a:t>
            </a:r>
            <a:endParaRPr lang="en-US" sz="1000" dirty="0"/>
          </a:p>
        </p:txBody>
      </p:sp>
      <p:sp>
        <p:nvSpPr>
          <p:cNvPr id="53" name="Text 50"/>
          <p:cNvSpPr/>
          <p:nvPr/>
        </p:nvSpPr>
        <p:spPr>
          <a:xfrm>
            <a:off x="6739128" y="3584448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FF"/>
                </a:solidFill>
              </a:rPr>
              <a:t>0 / 1</a:t>
            </a:r>
            <a:endParaRPr lang="en-US" sz="950" dirty="0"/>
          </a:p>
        </p:txBody>
      </p:sp>
      <p:sp>
        <p:nvSpPr>
          <p:cNvPr id="54" name="Text 51"/>
          <p:cNvSpPr/>
          <p:nvPr/>
        </p:nvSpPr>
        <p:spPr>
          <a:xfrm>
            <a:off x="5285232" y="3803904"/>
            <a:ext cx="37307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</a:rPr>
              <a:t>Research Experience</a:t>
            </a:r>
            <a:endParaRPr lang="en-US" sz="850" dirty="0"/>
          </a:p>
        </p:txBody>
      </p:sp>
      <p:sp>
        <p:nvSpPr>
          <p:cNvPr id="55" name="Shape 52"/>
          <p:cNvSpPr/>
          <p:nvPr/>
        </p:nvSpPr>
        <p:spPr>
          <a:xfrm>
            <a:off x="4864608" y="4114800"/>
            <a:ext cx="4224528" cy="530352"/>
          </a:xfrm>
          <a:prstGeom prst="rect">
            <a:avLst/>
          </a:prstGeom>
          <a:solidFill>
            <a:srgbClr val="11114A">
              <a:alpha val="52000"/>
            </a:srgbClr>
          </a:solidFill>
          <a:ln w="6350">
            <a:solidFill>
              <a:srgbClr val="FF7043">
                <a:alpha val="38000"/>
              </a:srgbClr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4974336" y="4261104"/>
            <a:ext cx="228600" cy="228600"/>
          </a:xfrm>
          <a:prstGeom prst="ellipse">
            <a:avLst/>
          </a:prstGeom>
          <a:solidFill>
            <a:srgbClr val="FF7043">
              <a:alpha val="45000"/>
            </a:srgbClr>
          </a:solidFill>
          <a:ln w="12700">
            <a:solidFill>
              <a:srgbClr val="FF7043">
                <a:alpha val="60000"/>
              </a:srgbClr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5285232" y="4169664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Chance</a:t>
            </a:r>
            <a:endParaRPr lang="en-US" sz="1000" dirty="0"/>
          </a:p>
        </p:txBody>
      </p:sp>
      <p:sp>
        <p:nvSpPr>
          <p:cNvPr id="58" name="Text 55"/>
          <p:cNvSpPr/>
          <p:nvPr/>
        </p:nvSpPr>
        <p:spPr>
          <a:xfrm>
            <a:off x="6739128" y="4169664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7043"/>
                </a:solidFill>
              </a:rPr>
              <a:t>0.34–0.97</a:t>
            </a:r>
            <a:endParaRPr lang="en-US" sz="950" dirty="0"/>
          </a:p>
        </p:txBody>
      </p:sp>
      <p:sp>
        <p:nvSpPr>
          <p:cNvPr id="59" name="Text 56"/>
          <p:cNvSpPr/>
          <p:nvPr/>
        </p:nvSpPr>
        <p:spPr>
          <a:xfrm>
            <a:off x="5285232" y="4389120"/>
            <a:ext cx="37307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</a:rPr>
              <a:t>Target: Admission Probability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Tools &amp; Technologies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Tech stack powering PredictX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11480" y="1097280"/>
            <a:ext cx="2788920" cy="1691640"/>
          </a:xfrm>
          <a:prstGeom prst="rect">
            <a:avLst/>
          </a:prstGeom>
          <a:solidFill>
            <a:srgbClr val="111140">
              <a:alpha val="58000"/>
            </a:srgbClr>
          </a:solidFill>
          <a:ln w="8890">
            <a:solidFill>
              <a:srgbClr val="4B8EF5">
                <a:alpha val="52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11480" y="1170432"/>
            <a:ext cx="2788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🐍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411480" y="1627632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B8EF5"/>
                </a:solidFill>
              </a:rPr>
              <a:t>Python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11480" y="1956816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Core language for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ML &amp; Backend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319272" y="1097280"/>
            <a:ext cx="2788920" cy="1691640"/>
          </a:xfrm>
          <a:prstGeom prst="rect">
            <a:avLst/>
          </a:prstGeom>
          <a:solidFill>
            <a:srgbClr val="111140">
              <a:alpha val="58000"/>
            </a:srgbClr>
          </a:solidFill>
          <a:ln w="8890">
            <a:solidFill>
              <a:srgbClr val="7B5CF0">
                <a:alpha val="52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319272" y="1170432"/>
            <a:ext cx="2788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3319272" y="1627632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B5CF0"/>
                </a:solidFill>
              </a:rPr>
              <a:t>Scikit-Learn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3319272" y="1956816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ML model training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&amp; evaluation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227064" y="1097280"/>
            <a:ext cx="2788920" cy="1691640"/>
          </a:xfrm>
          <a:prstGeom prst="rect">
            <a:avLst/>
          </a:prstGeom>
          <a:solidFill>
            <a:srgbClr val="111140">
              <a:alpha val="58000"/>
            </a:srgbClr>
          </a:solidFill>
          <a:ln w="8890">
            <a:solidFill>
              <a:srgbClr val="00D4FF">
                <a:alpha val="52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27064" y="1170432"/>
            <a:ext cx="2788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🌐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6227064" y="1627632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D4FF"/>
                </a:solidFill>
              </a:rPr>
              <a:t>Flask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227064" y="1956816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Web framework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&amp; API routing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11480" y="2926080"/>
            <a:ext cx="1344168" cy="1170432"/>
          </a:xfrm>
          <a:prstGeom prst="rect">
            <a:avLst/>
          </a:prstGeom>
          <a:solidFill>
            <a:srgbClr val="111140">
              <a:alpha val="58000"/>
            </a:srgbClr>
          </a:solidFill>
          <a:ln w="8890">
            <a:solidFill>
              <a:srgbClr val="FF7043">
                <a:alpha val="38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11480" y="3017520"/>
            <a:ext cx="1344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🐼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411480" y="3438144"/>
            <a:ext cx="1344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7043"/>
                </a:solidFill>
              </a:rPr>
              <a:t>Pandas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11480" y="3712464"/>
            <a:ext cx="1344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AA"/>
                </a:solidFill>
              </a:rPr>
              <a:t>Library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1874520" y="2926080"/>
            <a:ext cx="1344168" cy="1170432"/>
          </a:xfrm>
          <a:prstGeom prst="rect">
            <a:avLst/>
          </a:prstGeom>
          <a:solidFill>
            <a:srgbClr val="111140">
              <a:alpha val="58000"/>
            </a:srgbClr>
          </a:solidFill>
          <a:ln w="8890">
            <a:solidFill>
              <a:srgbClr val="4B8EF5">
                <a:alpha val="38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874520" y="3017520"/>
            <a:ext cx="1344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🔢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1874520" y="3438144"/>
            <a:ext cx="1344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B8EF5"/>
                </a:solidFill>
              </a:rPr>
              <a:t>NumPy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1874520" y="3712464"/>
            <a:ext cx="1344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AA"/>
                </a:solidFill>
              </a:rPr>
              <a:t>Library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3337560" y="2926080"/>
            <a:ext cx="1344168" cy="1170432"/>
          </a:xfrm>
          <a:prstGeom prst="rect">
            <a:avLst/>
          </a:prstGeom>
          <a:solidFill>
            <a:srgbClr val="111140">
              <a:alpha val="58000"/>
            </a:srgbClr>
          </a:solidFill>
          <a:ln w="8890">
            <a:solidFill>
              <a:srgbClr val="00D4FF">
                <a:alpha val="38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337560" y="3017520"/>
            <a:ext cx="1344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3337560" y="3438144"/>
            <a:ext cx="1344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D4FF"/>
                </a:solidFill>
              </a:rPr>
              <a:t>Matplotlib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3337560" y="3712464"/>
            <a:ext cx="1344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AA"/>
                </a:solidFill>
              </a:rPr>
              <a:t>Library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4800600" y="2926080"/>
            <a:ext cx="1344168" cy="1170432"/>
          </a:xfrm>
          <a:prstGeom prst="rect">
            <a:avLst/>
          </a:prstGeom>
          <a:solidFill>
            <a:srgbClr val="111140">
              <a:alpha val="58000"/>
            </a:srgbClr>
          </a:solidFill>
          <a:ln w="8890">
            <a:solidFill>
              <a:srgbClr val="7B5CF0">
                <a:alpha val="3800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800600" y="3017520"/>
            <a:ext cx="1344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🎨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4800600" y="3438144"/>
            <a:ext cx="1344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B5CF0"/>
                </a:solidFill>
              </a:rPr>
              <a:t>Seaborn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4800600" y="3712464"/>
            <a:ext cx="1344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AA"/>
                </a:solidFill>
              </a:rPr>
              <a:t>Library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6263640" y="2926080"/>
            <a:ext cx="1344168" cy="1170432"/>
          </a:xfrm>
          <a:prstGeom prst="rect">
            <a:avLst/>
          </a:prstGeom>
          <a:solidFill>
            <a:srgbClr val="111140">
              <a:alpha val="58000"/>
            </a:srgbClr>
          </a:solidFill>
          <a:ln w="8890">
            <a:solidFill>
              <a:srgbClr val="FF7043">
                <a:alpha val="3800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263640" y="3017520"/>
            <a:ext cx="1344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💻</a:t>
            </a:r>
            <a:endParaRPr lang="en-US" sz="2000" dirty="0"/>
          </a:p>
        </p:txBody>
      </p:sp>
      <p:sp>
        <p:nvSpPr>
          <p:cNvPr id="35" name="Text 32"/>
          <p:cNvSpPr/>
          <p:nvPr/>
        </p:nvSpPr>
        <p:spPr>
          <a:xfrm>
            <a:off x="6263640" y="3438144"/>
            <a:ext cx="1344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7043"/>
                </a:solidFill>
              </a:rPr>
              <a:t>HTML/CSS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6263640" y="3712464"/>
            <a:ext cx="1344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AA"/>
                </a:solidFill>
              </a:rPr>
              <a:t>Library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7726680" y="2926080"/>
            <a:ext cx="1344168" cy="1170432"/>
          </a:xfrm>
          <a:prstGeom prst="rect">
            <a:avLst/>
          </a:prstGeom>
          <a:solidFill>
            <a:srgbClr val="111140">
              <a:alpha val="58000"/>
            </a:srgbClr>
          </a:solidFill>
          <a:ln w="8890">
            <a:solidFill>
              <a:srgbClr val="00BCD4">
                <a:alpha val="3800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726680" y="3017520"/>
            <a:ext cx="1344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39" name="Text 36"/>
          <p:cNvSpPr/>
          <p:nvPr/>
        </p:nvSpPr>
        <p:spPr>
          <a:xfrm>
            <a:off x="7726680" y="3438144"/>
            <a:ext cx="1344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BCD4"/>
                </a:solidFill>
              </a:rPr>
              <a:t>Chart.js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7726680" y="3712464"/>
            <a:ext cx="1344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AA"/>
                </a:solidFill>
              </a:rPr>
              <a:t>Library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201168"/>
            <a:ext cx="1737360" cy="256032"/>
          </a:xfrm>
          <a:prstGeom prst="roundRect">
            <a:avLst>
              <a:gd name="adj" fmla="val 50000"/>
            </a:avLst>
          </a:prstGeom>
          <a:solidFill>
            <a:srgbClr val="00BCD4">
              <a:alpha val="28000"/>
            </a:srgbClr>
          </a:solidFill>
          <a:ln w="8890">
            <a:solidFill>
              <a:srgbClr val="00BCD4">
                <a:alpha val="72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2286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ANALYSIS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Exploratory Data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457200" y="10972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D4FF"/>
                </a:solidFill>
              </a:rPr>
              <a:t>Analysis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411480" y="1627632"/>
            <a:ext cx="4709160" cy="731520"/>
          </a:xfrm>
          <a:prstGeom prst="rect">
            <a:avLst/>
          </a:prstGeom>
          <a:solidFill>
            <a:srgbClr val="111140">
              <a:alpha val="58000"/>
            </a:srgbClr>
          </a:solidFill>
          <a:ln w="8890">
            <a:solidFill>
              <a:srgbClr val="4B8EF5">
                <a:alpha val="45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1810512"/>
            <a:ext cx="347472" cy="347472"/>
          </a:xfrm>
          <a:prstGeom prst="ellipse">
            <a:avLst/>
          </a:prstGeom>
          <a:solidFill>
            <a:srgbClr val="4B8EF5">
              <a:alpha val="38000"/>
            </a:srgbClr>
          </a:solidFill>
          <a:ln w="12700">
            <a:solidFill>
              <a:srgbClr val="4B8EF5">
                <a:alpha val="6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1819656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005840" y="1700784"/>
            <a:ext cx="4005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B8EF5"/>
                </a:solidFill>
              </a:rPr>
              <a:t>Data Cleaning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05840" y="1975104"/>
            <a:ext cx="40050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Removed Serial No column; formatted dataset using Pandas for ML pipeline.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11480" y="2450592"/>
            <a:ext cx="4709160" cy="731520"/>
          </a:xfrm>
          <a:prstGeom prst="rect">
            <a:avLst/>
          </a:prstGeom>
          <a:solidFill>
            <a:srgbClr val="111140">
              <a:alpha val="58000"/>
            </a:srgbClr>
          </a:solidFill>
          <a:ln w="8890">
            <a:solidFill>
              <a:srgbClr val="00D4FF">
                <a:alpha val="45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48640" y="2633472"/>
            <a:ext cx="347472" cy="347472"/>
          </a:xfrm>
          <a:prstGeom prst="ellipse">
            <a:avLst/>
          </a:prstGeom>
          <a:solidFill>
            <a:srgbClr val="00D4FF">
              <a:alpha val="38000"/>
            </a:srgbClr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2642616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005840" y="2523744"/>
            <a:ext cx="4005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</a:rPr>
              <a:t>Missing Values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05840" y="2798064"/>
            <a:ext cx="40050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Dataset was fully clean — no null or missing values across all 500 records.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11480" y="3273552"/>
            <a:ext cx="4709160" cy="731520"/>
          </a:xfrm>
          <a:prstGeom prst="rect">
            <a:avLst/>
          </a:prstGeom>
          <a:solidFill>
            <a:srgbClr val="111140">
              <a:alpha val="58000"/>
            </a:srgbClr>
          </a:solidFill>
          <a:ln w="8890">
            <a:solidFill>
              <a:srgbClr val="7B5CF0">
                <a:alpha val="45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48640" y="3456432"/>
            <a:ext cx="347472" cy="347472"/>
          </a:xfrm>
          <a:prstGeom prst="ellipse">
            <a:avLst/>
          </a:prstGeom>
          <a:solidFill>
            <a:srgbClr val="7B5CF0">
              <a:alpha val="38000"/>
            </a:srgbClr>
          </a:solidFill>
          <a:ln w="12700">
            <a:solidFill>
              <a:srgbClr val="7B5CF0">
                <a:alpha val="6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8640" y="3465576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005840" y="3346704"/>
            <a:ext cx="4005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5CF0"/>
                </a:solidFill>
              </a:rPr>
              <a:t>Visualization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005840" y="3621024"/>
            <a:ext cx="40050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Scatter plots, bar charts, heatmaps and histograms reveal clear data patterns.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11480" y="4096512"/>
            <a:ext cx="4709160" cy="731520"/>
          </a:xfrm>
          <a:prstGeom prst="rect">
            <a:avLst/>
          </a:prstGeom>
          <a:solidFill>
            <a:srgbClr val="111140">
              <a:alpha val="58000"/>
            </a:srgbClr>
          </a:solidFill>
          <a:ln w="8890">
            <a:solidFill>
              <a:srgbClr val="FF7043">
                <a:alpha val="45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48640" y="4279392"/>
            <a:ext cx="347472" cy="347472"/>
          </a:xfrm>
          <a:prstGeom prst="ellipse">
            <a:avLst/>
          </a:prstGeom>
          <a:solidFill>
            <a:srgbClr val="FF7043">
              <a:alpha val="38000"/>
            </a:srgbClr>
          </a:solidFill>
          <a:ln w="12700">
            <a:solidFill>
              <a:srgbClr val="FF7043">
                <a:alpha val="60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8640" y="4288536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1005840" y="4169664"/>
            <a:ext cx="4005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7043"/>
                </a:solidFill>
              </a:rPr>
              <a:t>Correlation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005840" y="4443984"/>
            <a:ext cx="40050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CGPA (0.88), GRE (0.81), TOEFL (0.79) — strongest correlation with admission.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5321808" y="1572768"/>
            <a:ext cx="3401568" cy="3401568"/>
          </a:xfrm>
          <a:prstGeom prst="rect">
            <a:avLst/>
          </a:prstGeom>
          <a:solidFill>
            <a:srgbClr val="111140">
              <a:alpha val="58000"/>
            </a:srgbClr>
          </a:solidFill>
          <a:ln w="8890">
            <a:solidFill>
              <a:srgbClr val="4B8EF5">
                <a:alpha val="50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321808" y="1664208"/>
            <a:ext cx="3401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4B8EF5"/>
                </a:solidFill>
              </a:rPr>
              <a:t>KEY FINDINGS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5468112" y="2148840"/>
            <a:ext cx="219456" cy="219456"/>
          </a:xfrm>
          <a:prstGeom prst="ellipse">
            <a:avLst/>
          </a:prstGeom>
          <a:solidFill>
            <a:srgbClr val="00D4FF">
              <a:alpha val="42000"/>
            </a:srgbClr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760720" y="208483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CGPA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7223760" y="20848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FF"/>
                </a:solidFill>
              </a:rPr>
              <a:t>0.88 correlation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5468112" y="2651760"/>
            <a:ext cx="219456" cy="219456"/>
          </a:xfrm>
          <a:prstGeom prst="ellipse">
            <a:avLst/>
          </a:prstGeom>
          <a:solidFill>
            <a:srgbClr val="4B8EF5">
              <a:alpha val="42000"/>
            </a:srgbClr>
          </a:solidFill>
          <a:ln w="12700">
            <a:solidFill>
              <a:srgbClr val="4B8EF5">
                <a:alpha val="6000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760720" y="258775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GRE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7223760" y="25877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8EF5"/>
                </a:solidFill>
              </a:rPr>
              <a:t>0.81 correlation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5468112" y="3154680"/>
            <a:ext cx="219456" cy="219456"/>
          </a:xfrm>
          <a:prstGeom prst="ellipse">
            <a:avLst/>
          </a:prstGeom>
          <a:solidFill>
            <a:srgbClr val="7B5CF0">
              <a:alpha val="42000"/>
            </a:srgbClr>
          </a:solidFill>
          <a:ln w="12700">
            <a:solidFill>
              <a:srgbClr val="7B5CF0">
                <a:alpha val="6000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760720" y="309067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TOEFL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7223760" y="309067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5CF0"/>
                </a:solidFill>
              </a:rPr>
              <a:t>0.79 correlation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5468112" y="3657600"/>
            <a:ext cx="219456" cy="219456"/>
          </a:xfrm>
          <a:prstGeom prst="ellipse">
            <a:avLst/>
          </a:prstGeom>
          <a:solidFill>
            <a:srgbClr val="FF7043">
              <a:alpha val="42000"/>
            </a:srgbClr>
          </a:solidFill>
          <a:ln w="12700">
            <a:solidFill>
              <a:srgbClr val="FF7043">
                <a:alpha val="60000"/>
              </a:srgbClr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760720" y="359359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Research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7223760" y="35935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7043"/>
                </a:solidFill>
              </a:rPr>
              <a:t>+15% boost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5468112" y="4160520"/>
            <a:ext cx="219456" cy="219456"/>
          </a:xfrm>
          <a:prstGeom prst="ellipse">
            <a:avLst/>
          </a:prstGeom>
          <a:solidFill>
            <a:srgbClr val="00BCD4">
              <a:alpha val="42000"/>
            </a:srgbClr>
          </a:solidFill>
          <a:ln w="12700">
            <a:solidFill>
              <a:srgbClr val="00BCD4">
                <a:alpha val="60000"/>
              </a:srgbClr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760720" y="409651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Avg Chance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7223760" y="409651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BCD4"/>
                </a:solidFill>
              </a:rPr>
              <a:t>72% of 500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5468112" y="4663440"/>
            <a:ext cx="219456" cy="219456"/>
          </a:xfrm>
          <a:prstGeom prst="ellipse">
            <a:avLst/>
          </a:prstGeom>
          <a:solidFill>
            <a:srgbClr val="00D4FF">
              <a:alpha val="42000"/>
            </a:srgbClr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5760720" y="459943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CGPA &gt; 9.0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7223760" y="45994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FF"/>
                </a:solidFill>
              </a:rPr>
              <a:t>= High Chance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201168"/>
            <a:ext cx="1737360" cy="256032"/>
          </a:xfrm>
          <a:prstGeom prst="roundRect">
            <a:avLst>
              <a:gd name="adj" fmla="val 50000"/>
            </a:avLst>
          </a:prstGeom>
          <a:solidFill>
            <a:srgbClr val="7B5CF0">
              <a:alpha val="28000"/>
            </a:srgbClr>
          </a:solidFill>
          <a:ln w="8890">
            <a:solidFill>
              <a:srgbClr val="7B5CF0">
                <a:alpha val="72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2286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ML MODEL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Machine Learning Model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420624" y="1298448"/>
            <a:ext cx="2084832" cy="1234440"/>
          </a:xfrm>
          <a:prstGeom prst="rect">
            <a:avLst/>
          </a:prstGeom>
          <a:solidFill>
            <a:srgbClr val="111140">
              <a:alpha val="58000"/>
            </a:srgbClr>
          </a:solidFill>
          <a:ln w="8890">
            <a:solidFill>
              <a:srgbClr val="4B8EF5">
                <a:alpha val="5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20624" y="1371600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B8EF5"/>
                </a:solidFill>
              </a:rPr>
              <a:t>81.88%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420624" y="1975104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R² Score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20624" y="2267712"/>
            <a:ext cx="20848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9AA"/>
                </a:solidFill>
              </a:rPr>
              <a:t>Variance explained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560320" y="1298448"/>
            <a:ext cx="2084832" cy="1234440"/>
          </a:xfrm>
          <a:prstGeom prst="rect">
            <a:avLst/>
          </a:prstGeom>
          <a:solidFill>
            <a:srgbClr val="111140">
              <a:alpha val="58000"/>
            </a:srgbClr>
          </a:solidFill>
          <a:ln w="8890">
            <a:solidFill>
              <a:srgbClr val="00D4FF">
                <a:alpha val="5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560320" y="1371600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D4FF"/>
                </a:solidFill>
              </a:rPr>
              <a:t>0.0427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2560320" y="1975104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MAE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560320" y="2267712"/>
            <a:ext cx="20848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9AA"/>
                </a:solidFill>
              </a:rPr>
              <a:t>Mean Absolute Error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700016" y="1298448"/>
            <a:ext cx="2084832" cy="1234440"/>
          </a:xfrm>
          <a:prstGeom prst="rect">
            <a:avLst/>
          </a:prstGeom>
          <a:solidFill>
            <a:srgbClr val="111140">
              <a:alpha val="58000"/>
            </a:srgbClr>
          </a:solidFill>
          <a:ln w="8890">
            <a:solidFill>
              <a:srgbClr val="7B5CF0">
                <a:alpha val="5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00016" y="1371600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B5CF0"/>
                </a:solidFill>
              </a:rPr>
              <a:t>0.0609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4700016" y="1975104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RMSE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700016" y="2267712"/>
            <a:ext cx="20848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9AA"/>
                </a:solidFill>
              </a:rPr>
              <a:t>Root Mean Sq. Error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6839712" y="1298448"/>
            <a:ext cx="2084832" cy="1234440"/>
          </a:xfrm>
          <a:prstGeom prst="rect">
            <a:avLst/>
          </a:prstGeom>
          <a:solidFill>
            <a:srgbClr val="111140">
              <a:alpha val="58000"/>
            </a:srgbClr>
          </a:solidFill>
          <a:ln w="8890">
            <a:solidFill>
              <a:srgbClr val="FF7043">
                <a:alpha val="5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839712" y="1371600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7043"/>
                </a:solidFill>
              </a:rPr>
              <a:t>400/100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6839712" y="1975104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Train/Test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839712" y="2267712"/>
            <a:ext cx="20848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9AA"/>
                </a:solidFill>
              </a:rPr>
              <a:t>80-20 Split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420624" y="2697480"/>
            <a:ext cx="5029200" cy="2212848"/>
          </a:xfrm>
          <a:prstGeom prst="rect">
            <a:avLst/>
          </a:prstGeom>
          <a:solidFill>
            <a:srgbClr val="111140">
              <a:alpha val="58000"/>
            </a:srgbClr>
          </a:solidFill>
          <a:ln w="8890">
            <a:solidFill>
              <a:srgbClr val="4B8EF5">
                <a:alpha val="48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20624" y="2779776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4B8EF5"/>
                </a:solidFill>
              </a:rPr>
              <a:t>FEATURE IMPORTANCE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548640" y="3127248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CGPA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1920240" y="3182112"/>
            <a:ext cx="2926080" cy="118872"/>
          </a:xfrm>
          <a:prstGeom prst="rect">
            <a:avLst/>
          </a:prstGeom>
          <a:solidFill>
            <a:srgbClr val="0A0A30"/>
          </a:solidFill>
          <a:ln w="12700">
            <a:solidFill>
              <a:srgbClr val="0A0A3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920240" y="3182112"/>
            <a:ext cx="2013143" cy="11887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892040" y="3127248"/>
            <a:ext cx="4754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D4FF"/>
                </a:solidFill>
              </a:rPr>
              <a:t>68.8%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548640" y="3401568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Research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1920240" y="3456432"/>
            <a:ext cx="2926080" cy="118872"/>
          </a:xfrm>
          <a:prstGeom prst="rect">
            <a:avLst/>
          </a:prstGeom>
          <a:solidFill>
            <a:srgbClr val="0A0A30"/>
          </a:solidFill>
          <a:ln w="12700">
            <a:solidFill>
              <a:srgbClr val="0A0A3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920240" y="3456432"/>
            <a:ext cx="430134" cy="118872"/>
          </a:xfrm>
          <a:prstGeom prst="rect">
            <a:avLst/>
          </a:prstGeom>
          <a:solidFill>
            <a:srgbClr val="4B8EF5"/>
          </a:solidFill>
          <a:ln w="12700">
            <a:solidFill>
              <a:srgbClr val="4B8EF5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892040" y="3401568"/>
            <a:ext cx="4754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B8EF5"/>
                </a:solidFill>
              </a:rPr>
              <a:t>14.7%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548640" y="3675888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LOR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1920240" y="3730752"/>
            <a:ext cx="2926080" cy="118872"/>
          </a:xfrm>
          <a:prstGeom prst="rect">
            <a:avLst/>
          </a:prstGeom>
          <a:solidFill>
            <a:srgbClr val="0A0A30"/>
          </a:solidFill>
          <a:ln w="12700">
            <a:solidFill>
              <a:srgbClr val="0A0A30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1920240" y="3730752"/>
            <a:ext cx="307238" cy="118872"/>
          </a:xfrm>
          <a:prstGeom prst="rect">
            <a:avLst/>
          </a:prstGeom>
          <a:solidFill>
            <a:srgbClr val="7B5CF0"/>
          </a:solidFill>
          <a:ln w="12700">
            <a:solidFill>
              <a:srgbClr val="7B5CF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892040" y="3675888"/>
            <a:ext cx="4754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B5CF0"/>
                </a:solidFill>
              </a:rPr>
              <a:t>10.5%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548640" y="3950208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TOEFL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1920240" y="4005072"/>
            <a:ext cx="2926080" cy="118872"/>
          </a:xfrm>
          <a:prstGeom prst="rect">
            <a:avLst/>
          </a:prstGeom>
          <a:solidFill>
            <a:srgbClr val="0A0A30"/>
          </a:solidFill>
          <a:ln w="12700">
            <a:solidFill>
              <a:srgbClr val="0A0A30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1920240" y="4005072"/>
            <a:ext cx="52669" cy="118872"/>
          </a:xfrm>
          <a:prstGeom prst="rect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892040" y="3950208"/>
            <a:ext cx="4754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7043"/>
                </a:solidFill>
              </a:rPr>
              <a:t>1.8%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548640" y="4224528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GRE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1920240" y="4279392"/>
            <a:ext cx="2926080" cy="118872"/>
          </a:xfrm>
          <a:prstGeom prst="rect">
            <a:avLst/>
          </a:prstGeom>
          <a:solidFill>
            <a:srgbClr val="0A0A30"/>
          </a:solidFill>
          <a:ln w="12700">
            <a:solidFill>
              <a:srgbClr val="0A0A30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1920240" y="4279392"/>
            <a:ext cx="43891" cy="11887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892040" y="4224528"/>
            <a:ext cx="4754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BCD4"/>
                </a:solidFill>
              </a:rPr>
              <a:t>1.5%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548640" y="4498848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SOP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1920240" y="4553712"/>
            <a:ext cx="2926080" cy="118872"/>
          </a:xfrm>
          <a:prstGeom prst="rect">
            <a:avLst/>
          </a:prstGeom>
          <a:solidFill>
            <a:srgbClr val="0A0A30"/>
          </a:solidFill>
          <a:ln w="12700">
            <a:solidFill>
              <a:srgbClr val="0A0A30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1920240" y="4553712"/>
            <a:ext cx="32187" cy="118872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4892040" y="4498848"/>
            <a:ext cx="4754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899AA"/>
                </a:solidFill>
              </a:rPr>
              <a:t>1.1%</a:t>
            </a:r>
            <a:endParaRPr lang="en-US" sz="850" dirty="0"/>
          </a:p>
        </p:txBody>
      </p:sp>
      <p:sp>
        <p:nvSpPr>
          <p:cNvPr id="48" name="Shape 45"/>
          <p:cNvSpPr/>
          <p:nvPr/>
        </p:nvSpPr>
        <p:spPr>
          <a:xfrm>
            <a:off x="5650992" y="2697480"/>
            <a:ext cx="3090672" cy="2212848"/>
          </a:xfrm>
          <a:prstGeom prst="rect">
            <a:avLst/>
          </a:prstGeom>
          <a:solidFill>
            <a:srgbClr val="111140">
              <a:alpha val="58000"/>
            </a:srgbClr>
          </a:solidFill>
          <a:ln w="8890">
            <a:solidFill>
              <a:srgbClr val="7B5CF0">
                <a:alpha val="48000"/>
              </a:srgbClr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5650992" y="2779776"/>
            <a:ext cx="3090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7B5CF0"/>
                </a:solidFill>
              </a:rPr>
              <a:t>PIPELINE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5779008" y="3172968"/>
            <a:ext cx="182880" cy="182880"/>
          </a:xfrm>
          <a:prstGeom prst="ellipse">
            <a:avLst/>
          </a:prstGeom>
          <a:solidFill>
            <a:srgbClr val="7B5CF0">
              <a:alpha val="40000"/>
            </a:srgbClr>
          </a:solidFill>
          <a:ln w="12700">
            <a:solidFill>
              <a:srgbClr val="7B5CF0">
                <a:alpha val="60000"/>
              </a:srgbClr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5779008" y="3172968"/>
            <a:ext cx="1828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1</a:t>
            </a:r>
            <a:endParaRPr lang="en-US" sz="700" dirty="0"/>
          </a:p>
        </p:txBody>
      </p:sp>
      <p:sp>
        <p:nvSpPr>
          <p:cNvPr id="52" name="Text 49"/>
          <p:cNvSpPr/>
          <p:nvPr/>
        </p:nvSpPr>
        <p:spPr>
          <a:xfrm>
            <a:off x="6035040" y="3127248"/>
            <a:ext cx="2578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Load CSV Dataset</a:t>
            </a:r>
            <a:endParaRPr lang="en-US" sz="900" dirty="0"/>
          </a:p>
        </p:txBody>
      </p:sp>
      <p:sp>
        <p:nvSpPr>
          <p:cNvPr id="53" name="Shape 50"/>
          <p:cNvSpPr/>
          <p:nvPr/>
        </p:nvSpPr>
        <p:spPr>
          <a:xfrm>
            <a:off x="5779008" y="3447288"/>
            <a:ext cx="182880" cy="182880"/>
          </a:xfrm>
          <a:prstGeom prst="ellipse">
            <a:avLst/>
          </a:prstGeom>
          <a:solidFill>
            <a:srgbClr val="7B5CF0">
              <a:alpha val="40000"/>
            </a:srgbClr>
          </a:solidFill>
          <a:ln w="12700">
            <a:solidFill>
              <a:srgbClr val="7B5CF0">
                <a:alpha val="60000"/>
              </a:srgbClr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5779008" y="3447288"/>
            <a:ext cx="1828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2</a:t>
            </a:r>
            <a:endParaRPr lang="en-US" sz="700" dirty="0"/>
          </a:p>
        </p:txBody>
      </p:sp>
      <p:sp>
        <p:nvSpPr>
          <p:cNvPr id="55" name="Text 52"/>
          <p:cNvSpPr/>
          <p:nvPr/>
        </p:nvSpPr>
        <p:spPr>
          <a:xfrm>
            <a:off x="6035040" y="3401568"/>
            <a:ext cx="2578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Clean &amp; Format Data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5779008" y="3721608"/>
            <a:ext cx="182880" cy="182880"/>
          </a:xfrm>
          <a:prstGeom prst="ellipse">
            <a:avLst/>
          </a:prstGeom>
          <a:solidFill>
            <a:srgbClr val="7B5CF0">
              <a:alpha val="40000"/>
            </a:srgbClr>
          </a:solidFill>
          <a:ln w="12700">
            <a:solidFill>
              <a:srgbClr val="7B5CF0">
                <a:alpha val="60000"/>
              </a:srgbClr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5779008" y="3721608"/>
            <a:ext cx="1828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3</a:t>
            </a:r>
            <a:endParaRPr lang="en-US" sz="700" dirty="0"/>
          </a:p>
        </p:txBody>
      </p:sp>
      <p:sp>
        <p:nvSpPr>
          <p:cNvPr id="58" name="Text 55"/>
          <p:cNvSpPr/>
          <p:nvPr/>
        </p:nvSpPr>
        <p:spPr>
          <a:xfrm>
            <a:off x="6035040" y="3675888"/>
            <a:ext cx="2578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Select 7 Features</a:t>
            </a:r>
            <a:endParaRPr lang="en-US" sz="900" dirty="0"/>
          </a:p>
        </p:txBody>
      </p:sp>
      <p:sp>
        <p:nvSpPr>
          <p:cNvPr id="59" name="Shape 56"/>
          <p:cNvSpPr/>
          <p:nvPr/>
        </p:nvSpPr>
        <p:spPr>
          <a:xfrm>
            <a:off x="5779008" y="3995928"/>
            <a:ext cx="182880" cy="182880"/>
          </a:xfrm>
          <a:prstGeom prst="ellipse">
            <a:avLst/>
          </a:prstGeom>
          <a:solidFill>
            <a:srgbClr val="7B5CF0">
              <a:alpha val="40000"/>
            </a:srgbClr>
          </a:solidFill>
          <a:ln w="12700">
            <a:solidFill>
              <a:srgbClr val="7B5CF0">
                <a:alpha val="60000"/>
              </a:srgbClr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5779008" y="3995928"/>
            <a:ext cx="1828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4</a:t>
            </a:r>
            <a:endParaRPr lang="en-US" sz="700" dirty="0"/>
          </a:p>
        </p:txBody>
      </p:sp>
      <p:sp>
        <p:nvSpPr>
          <p:cNvPr id="61" name="Text 58"/>
          <p:cNvSpPr/>
          <p:nvPr/>
        </p:nvSpPr>
        <p:spPr>
          <a:xfrm>
            <a:off x="6035040" y="3950208"/>
            <a:ext cx="2578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80/20 Train-Test Split</a:t>
            </a:r>
            <a:endParaRPr lang="en-US" sz="900" dirty="0"/>
          </a:p>
        </p:txBody>
      </p:sp>
      <p:sp>
        <p:nvSpPr>
          <p:cNvPr id="62" name="Shape 59"/>
          <p:cNvSpPr/>
          <p:nvPr/>
        </p:nvSpPr>
        <p:spPr>
          <a:xfrm>
            <a:off x="5779008" y="4270248"/>
            <a:ext cx="182880" cy="182880"/>
          </a:xfrm>
          <a:prstGeom prst="ellipse">
            <a:avLst/>
          </a:prstGeom>
          <a:solidFill>
            <a:srgbClr val="7B5CF0">
              <a:alpha val="40000"/>
            </a:srgbClr>
          </a:solidFill>
          <a:ln w="12700">
            <a:solidFill>
              <a:srgbClr val="7B5CF0">
                <a:alpha val="60000"/>
              </a:srgbClr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5779008" y="4270248"/>
            <a:ext cx="1828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5</a:t>
            </a:r>
            <a:endParaRPr lang="en-US" sz="700" dirty="0"/>
          </a:p>
        </p:txBody>
      </p:sp>
      <p:sp>
        <p:nvSpPr>
          <p:cNvPr id="64" name="Text 61"/>
          <p:cNvSpPr/>
          <p:nvPr/>
        </p:nvSpPr>
        <p:spPr>
          <a:xfrm>
            <a:off x="6035040" y="4224528"/>
            <a:ext cx="2578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Fit Linear Regression</a:t>
            </a:r>
            <a:endParaRPr lang="en-US" sz="900" dirty="0"/>
          </a:p>
        </p:txBody>
      </p:sp>
      <p:sp>
        <p:nvSpPr>
          <p:cNvPr id="65" name="Shape 62"/>
          <p:cNvSpPr/>
          <p:nvPr/>
        </p:nvSpPr>
        <p:spPr>
          <a:xfrm>
            <a:off x="5779008" y="4544568"/>
            <a:ext cx="182880" cy="182880"/>
          </a:xfrm>
          <a:prstGeom prst="ellipse">
            <a:avLst/>
          </a:prstGeom>
          <a:solidFill>
            <a:srgbClr val="7B5CF0">
              <a:alpha val="40000"/>
            </a:srgbClr>
          </a:solidFill>
          <a:ln w="12700">
            <a:solidFill>
              <a:srgbClr val="7B5CF0">
                <a:alpha val="60000"/>
              </a:srgbClr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5779008" y="4544568"/>
            <a:ext cx="1828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6</a:t>
            </a:r>
            <a:endParaRPr lang="en-US" sz="700" dirty="0"/>
          </a:p>
        </p:txBody>
      </p:sp>
      <p:sp>
        <p:nvSpPr>
          <p:cNvPr id="67" name="Text 64"/>
          <p:cNvSpPr/>
          <p:nvPr/>
        </p:nvSpPr>
        <p:spPr>
          <a:xfrm>
            <a:off x="6035040" y="4498848"/>
            <a:ext cx="2578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Save as .pkl File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201168"/>
            <a:ext cx="1737360" cy="256032"/>
          </a:xfrm>
          <a:prstGeom prst="roundRect">
            <a:avLst>
              <a:gd name="adj" fmla="val 50000"/>
            </a:avLst>
          </a:prstGeom>
          <a:solidFill>
            <a:srgbClr val="4B8EF5">
              <a:alpha val="28000"/>
            </a:srgbClr>
          </a:solidFill>
          <a:ln w="8890">
            <a:solidFill>
              <a:srgbClr val="4B8EF5">
                <a:alpha val="72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2286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WEB DASHBOARD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457200" y="5486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Create 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2377440" y="54864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D4FF"/>
                </a:solidFill>
              </a:rPr>
              <a:t>Anything.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457200" y="1207008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</a:rPr>
              <a:t>PredictX — Flask-powered web dashboard for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</a:rPr>
              <a:t>graduate admission prediction.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57200" y="1993392"/>
            <a:ext cx="274320" cy="274320"/>
          </a:xfrm>
          <a:prstGeom prst="ellipse">
            <a:avLst/>
          </a:prstGeom>
          <a:solidFill>
            <a:srgbClr val="00D4FF">
              <a:alpha val="35000"/>
            </a:srgbClr>
          </a:solidFill>
          <a:ln w="12700">
            <a:solidFill>
              <a:srgbClr val="00D4FF">
                <a:alpha val="58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197510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ML Prediction — Real-time probability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57200" y="2505456"/>
            <a:ext cx="274320" cy="274320"/>
          </a:xfrm>
          <a:prstGeom prst="ellipse">
            <a:avLst/>
          </a:prstGeom>
          <a:solidFill>
            <a:srgbClr val="4B8EF5">
              <a:alpha val="35000"/>
            </a:srgbClr>
          </a:solidFill>
          <a:ln w="12700">
            <a:solidFill>
              <a:srgbClr val="4B8EF5">
                <a:alpha val="58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" y="248716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6 Charts — Dataset visualizations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57200" y="3017520"/>
            <a:ext cx="274320" cy="274320"/>
          </a:xfrm>
          <a:prstGeom prst="ellipse">
            <a:avLst/>
          </a:prstGeom>
          <a:solidFill>
            <a:srgbClr val="7B5CF0">
              <a:alpha val="35000"/>
            </a:srgbClr>
          </a:solidFill>
          <a:ln w="12700">
            <a:solidFill>
              <a:srgbClr val="7B5CF0">
                <a:alpha val="58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68680" y="299923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Dataset Explorer — 500 records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343400" y="347472"/>
            <a:ext cx="4572000" cy="2743200"/>
          </a:xfrm>
          <a:prstGeom prst="rect">
            <a:avLst/>
          </a:prstGeom>
          <a:solidFill>
            <a:srgbClr val="111140">
              <a:alpha val="58000"/>
            </a:srgbClr>
          </a:solidFill>
          <a:ln w="8890">
            <a:solidFill>
              <a:srgbClr val="4B8EF5">
                <a:alpha val="50000"/>
              </a:srgbClr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480560" y="475488"/>
            <a:ext cx="4297680" cy="246888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5029200" y="3163824"/>
            <a:ext cx="1737360" cy="237744"/>
          </a:xfrm>
          <a:prstGeom prst="roundRect">
            <a:avLst>
              <a:gd name="adj" fmla="val 50000"/>
            </a:avLst>
          </a:prstGeom>
          <a:solidFill>
            <a:srgbClr val="4B8EF5">
              <a:alpha val="32000"/>
            </a:srgbClr>
          </a:solidFill>
          <a:ln w="8890">
            <a:solidFill>
              <a:srgbClr val="4B8EF5">
                <a:alpha val="7200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029200" y="3182112"/>
            <a:ext cx="17373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Home Page</a:t>
            </a:r>
            <a:endParaRPr lang="en-US" sz="750" dirty="0"/>
          </a:p>
        </p:txBody>
      </p:sp>
      <p:sp>
        <p:nvSpPr>
          <p:cNvPr id="18" name="Shape 14"/>
          <p:cNvSpPr/>
          <p:nvPr/>
        </p:nvSpPr>
        <p:spPr>
          <a:xfrm>
            <a:off x="411480" y="3547872"/>
            <a:ext cx="3840480" cy="1389888"/>
          </a:xfrm>
          <a:prstGeom prst="rect">
            <a:avLst/>
          </a:prstGeom>
          <a:solidFill>
            <a:srgbClr val="111140">
              <a:alpha val="58000"/>
            </a:srgbClr>
          </a:solidFill>
          <a:ln w="8890">
            <a:solidFill>
              <a:srgbClr val="7B5CF0">
                <a:alpha val="48000"/>
              </a:srgbClr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30352" y="3584448"/>
            <a:ext cx="3611880" cy="123444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4370832" y="4096512"/>
            <a:ext cx="1737360" cy="237744"/>
          </a:xfrm>
          <a:prstGeom prst="roundRect">
            <a:avLst>
              <a:gd name="adj" fmla="val 50000"/>
            </a:avLst>
          </a:prstGeom>
          <a:solidFill>
            <a:srgbClr val="7B5CF0">
              <a:alpha val="32000"/>
            </a:srgbClr>
          </a:solidFill>
          <a:ln w="8890">
            <a:solidFill>
              <a:srgbClr val="7B5CF0">
                <a:alpha val="72000"/>
              </a:srgbClr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4370832" y="4114800"/>
            <a:ext cx="17373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Predict Page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201168"/>
            <a:ext cx="1737360" cy="256032"/>
          </a:xfrm>
          <a:prstGeom prst="roundRect">
            <a:avLst>
              <a:gd name="adj" fmla="val 50000"/>
            </a:avLst>
          </a:prstGeom>
          <a:solidFill>
            <a:srgbClr val="FF7043">
              <a:alpha val="28000"/>
            </a:srgbClr>
          </a:solidFill>
          <a:ln w="8890">
            <a:solidFill>
              <a:srgbClr val="FF7043">
                <a:alpha val="72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2286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OUTPUT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Prediction Result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457200" y="109728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7043"/>
                </a:solidFill>
              </a:rPr>
              <a:t>&amp; Dataset Explorer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411480" y="1572768"/>
            <a:ext cx="4663440" cy="1664208"/>
          </a:xfrm>
          <a:prstGeom prst="rect">
            <a:avLst/>
          </a:prstGeom>
          <a:solidFill>
            <a:srgbClr val="111140">
              <a:alpha val="58000"/>
            </a:srgbClr>
          </a:solidFill>
          <a:ln w="8890">
            <a:solidFill>
              <a:srgbClr val="FF7043">
                <a:alpha val="50000"/>
              </a:srgbClr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30352" y="1664208"/>
            <a:ext cx="4425696" cy="144475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11480" y="3337560"/>
            <a:ext cx="4663440" cy="475488"/>
          </a:xfrm>
          <a:prstGeom prst="rect">
            <a:avLst/>
          </a:prstGeom>
          <a:solidFill>
            <a:srgbClr val="11114A">
              <a:alpha val="52000"/>
            </a:srgbClr>
          </a:solidFill>
          <a:ln w="7620">
            <a:solidFill>
              <a:srgbClr val="00E581">
                <a:alpha val="42000"/>
              </a:srgbClr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66928" y="3456432"/>
            <a:ext cx="228600" cy="228600"/>
          </a:xfrm>
          <a:prstGeom prst="ellipse">
            <a:avLst/>
          </a:prstGeom>
          <a:solidFill>
            <a:srgbClr val="00E581">
              <a:alpha val="45000"/>
            </a:srgbClr>
          </a:solidFill>
          <a:ln w="12700">
            <a:solidFill>
              <a:srgbClr val="00E581">
                <a:alpha val="6000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96112" y="341071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81"/>
                </a:solidFill>
              </a:rPr>
              <a:t>≥ 80%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1920240" y="341071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HIGH CHANCE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11480" y="3886200"/>
            <a:ext cx="4663440" cy="475488"/>
          </a:xfrm>
          <a:prstGeom prst="rect">
            <a:avLst/>
          </a:prstGeom>
          <a:solidFill>
            <a:srgbClr val="11114A">
              <a:alpha val="52000"/>
            </a:srgbClr>
          </a:solidFill>
          <a:ln w="7620">
            <a:solidFill>
              <a:srgbClr val="FFB400">
                <a:alpha val="4200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66928" y="4005072"/>
            <a:ext cx="228600" cy="228600"/>
          </a:xfrm>
          <a:prstGeom prst="ellipse">
            <a:avLst/>
          </a:prstGeom>
          <a:solidFill>
            <a:srgbClr val="FFB400">
              <a:alpha val="45000"/>
            </a:srgbClr>
          </a:solidFill>
          <a:ln w="12700">
            <a:solidFill>
              <a:srgbClr val="FFB400">
                <a:alpha val="6000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96112" y="395935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400"/>
                </a:solidFill>
              </a:rPr>
              <a:t>≥ 50%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1920240" y="395935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MODERATE CHANCE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11480" y="4434840"/>
            <a:ext cx="4663440" cy="475488"/>
          </a:xfrm>
          <a:prstGeom prst="rect">
            <a:avLst/>
          </a:prstGeom>
          <a:solidFill>
            <a:srgbClr val="11114A">
              <a:alpha val="52000"/>
            </a:srgbClr>
          </a:solidFill>
          <a:ln w="7620">
            <a:solidFill>
              <a:srgbClr val="FF4141">
                <a:alpha val="4200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66928" y="4553712"/>
            <a:ext cx="228600" cy="228600"/>
          </a:xfrm>
          <a:prstGeom prst="ellipse">
            <a:avLst/>
          </a:prstGeom>
          <a:solidFill>
            <a:srgbClr val="FF4141">
              <a:alpha val="45000"/>
            </a:srgbClr>
          </a:solidFill>
          <a:ln w="12700">
            <a:solidFill>
              <a:srgbClr val="FF4141">
                <a:alpha val="6000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896112" y="450799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141"/>
                </a:solidFill>
              </a:rPr>
              <a:t>&lt; 50%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1920240" y="450799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LOW CHANCE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5230368" y="1572768"/>
            <a:ext cx="3547872" cy="2907792"/>
          </a:xfrm>
          <a:prstGeom prst="rect">
            <a:avLst/>
          </a:prstGeom>
          <a:solidFill>
            <a:srgbClr val="111140">
              <a:alpha val="58000"/>
            </a:srgbClr>
          </a:solidFill>
          <a:ln w="8890">
            <a:solidFill>
              <a:srgbClr val="4B8EF5">
                <a:alpha val="50000"/>
              </a:srgbClr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349240" y="1664208"/>
            <a:ext cx="3310128" cy="2670048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5623560" y="4544568"/>
            <a:ext cx="1920240" cy="237744"/>
          </a:xfrm>
          <a:prstGeom prst="roundRect">
            <a:avLst>
              <a:gd name="adj" fmla="val 50000"/>
            </a:avLst>
          </a:prstGeom>
          <a:solidFill>
            <a:srgbClr val="4B8EF5">
              <a:alpha val="32000"/>
            </a:srgbClr>
          </a:solidFill>
          <a:ln w="8890">
            <a:solidFill>
              <a:srgbClr val="4B8EF5">
                <a:alpha val="72000"/>
              </a:srgbClr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5623560" y="4562856"/>
            <a:ext cx="1920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Dataset Explorer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164592"/>
            <a:ext cx="1737360" cy="256032"/>
          </a:xfrm>
          <a:prstGeom prst="roundRect">
            <a:avLst>
              <a:gd name="adj" fmla="val 50000"/>
            </a:avLst>
          </a:prstGeom>
          <a:solidFill>
            <a:srgbClr val="00BCD4">
              <a:alpha val="28000"/>
            </a:srgbClr>
          </a:solidFill>
          <a:ln w="8890">
            <a:solidFill>
              <a:srgbClr val="00BCD4">
                <a:alpha val="72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65760" y="192024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VISUALIZATIONS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5029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Data 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664208" y="5029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BCD4"/>
                </a:solidFill>
              </a:rPr>
              <a:t>Visualizations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365760" y="96012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9AA"/>
                </a:solidFill>
              </a:rPr>
              <a:t>All 6 charts from the Analytics Dashboard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47472" y="1261872"/>
            <a:ext cx="2816352" cy="1901952"/>
          </a:xfrm>
          <a:prstGeom prst="rect">
            <a:avLst/>
          </a:prstGeom>
          <a:solidFill>
            <a:srgbClr val="111140">
              <a:alpha val="58000"/>
            </a:srgbClr>
          </a:solidFill>
          <a:ln w="8890">
            <a:solidFill>
              <a:srgbClr val="4B8EF5">
                <a:alpha val="50000"/>
              </a:srgbClr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0624" y="1335024"/>
            <a:ext cx="2670048" cy="151790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47472" y="2871216"/>
            <a:ext cx="2816352" cy="292608"/>
          </a:xfrm>
          <a:prstGeom prst="rect">
            <a:avLst/>
          </a:prstGeom>
          <a:solidFill>
            <a:srgbClr val="4B8EF5">
              <a:alpha val="28000"/>
            </a:srgbClr>
          </a:solidFill>
          <a:ln w="12700">
            <a:solidFill>
              <a:srgbClr val="4B8EF5">
                <a:alpha val="4500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47472" y="2889504"/>
            <a:ext cx="2816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GRE vs Admission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3218688" y="1261872"/>
            <a:ext cx="2816352" cy="1901952"/>
          </a:xfrm>
          <a:prstGeom prst="rect">
            <a:avLst/>
          </a:prstGeom>
          <a:solidFill>
            <a:srgbClr val="111140">
              <a:alpha val="58000"/>
            </a:srgbClr>
          </a:solidFill>
          <a:ln w="8890">
            <a:solidFill>
              <a:srgbClr val="00D4FF">
                <a:alpha val="50000"/>
              </a:srgbClr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291840" y="1335024"/>
            <a:ext cx="2670048" cy="1517904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3218688" y="2871216"/>
            <a:ext cx="2816352" cy="292608"/>
          </a:xfrm>
          <a:prstGeom prst="rect">
            <a:avLst/>
          </a:prstGeom>
          <a:solidFill>
            <a:srgbClr val="00D4FF">
              <a:alpha val="28000"/>
            </a:srgbClr>
          </a:solidFill>
          <a:ln w="12700">
            <a:solidFill>
              <a:srgbClr val="00D4FF">
                <a:alpha val="45000"/>
              </a:srgbClr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3218688" y="2889504"/>
            <a:ext cx="2816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CGPA vs Univ. Rating</a:t>
            </a:r>
            <a:endParaRPr lang="en-US" sz="800" dirty="0"/>
          </a:p>
        </p:txBody>
      </p:sp>
      <p:sp>
        <p:nvSpPr>
          <p:cNvPr id="16" name="Shape 11"/>
          <p:cNvSpPr/>
          <p:nvPr/>
        </p:nvSpPr>
        <p:spPr>
          <a:xfrm>
            <a:off x="6089904" y="1261872"/>
            <a:ext cx="2816352" cy="1901952"/>
          </a:xfrm>
          <a:prstGeom prst="rect">
            <a:avLst/>
          </a:prstGeom>
          <a:solidFill>
            <a:srgbClr val="111140">
              <a:alpha val="58000"/>
            </a:srgbClr>
          </a:solidFill>
          <a:ln w="8890">
            <a:solidFill>
              <a:srgbClr val="FF7043">
                <a:alpha val="50000"/>
              </a:srgbClr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163056" y="1335024"/>
            <a:ext cx="2670048" cy="1517904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089904" y="2871216"/>
            <a:ext cx="2816352" cy="292608"/>
          </a:xfrm>
          <a:prstGeom prst="rect">
            <a:avLst/>
          </a:prstGeom>
          <a:solidFill>
            <a:srgbClr val="FF7043">
              <a:alpha val="28000"/>
            </a:srgbClr>
          </a:solidFill>
          <a:ln w="12700">
            <a:solidFill>
              <a:srgbClr val="FF7043">
                <a:alpha val="45000"/>
              </a:srgbClr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6089904" y="2889504"/>
            <a:ext cx="2816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Rating Distribution</a:t>
            </a:r>
            <a:endParaRPr lang="en-US" sz="800" dirty="0"/>
          </a:p>
        </p:txBody>
      </p:sp>
      <p:sp>
        <p:nvSpPr>
          <p:cNvPr id="20" name="Shape 14"/>
          <p:cNvSpPr/>
          <p:nvPr/>
        </p:nvSpPr>
        <p:spPr>
          <a:xfrm>
            <a:off x="347472" y="3218688"/>
            <a:ext cx="2816352" cy="1901952"/>
          </a:xfrm>
          <a:prstGeom prst="rect">
            <a:avLst/>
          </a:prstGeom>
          <a:solidFill>
            <a:srgbClr val="111140">
              <a:alpha val="58000"/>
            </a:srgbClr>
          </a:solidFill>
          <a:ln w="8890">
            <a:solidFill>
              <a:srgbClr val="7B5CF0">
                <a:alpha val="50000"/>
              </a:srgbClr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20624" y="3291840"/>
            <a:ext cx="2670048" cy="1517904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347472" y="4828032"/>
            <a:ext cx="2816352" cy="292608"/>
          </a:xfrm>
          <a:prstGeom prst="rect">
            <a:avLst/>
          </a:prstGeom>
          <a:solidFill>
            <a:srgbClr val="7B5CF0">
              <a:alpha val="28000"/>
            </a:srgbClr>
          </a:solidFill>
          <a:ln w="12700">
            <a:solidFill>
              <a:srgbClr val="7B5CF0">
                <a:alpha val="45000"/>
              </a:srgbClr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347472" y="4846320"/>
            <a:ext cx="2816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Correlation Heatmap</a:t>
            </a:r>
            <a:endParaRPr lang="en-US" sz="800" dirty="0"/>
          </a:p>
        </p:txBody>
      </p:sp>
      <p:sp>
        <p:nvSpPr>
          <p:cNvPr id="24" name="Shape 17"/>
          <p:cNvSpPr/>
          <p:nvPr/>
        </p:nvSpPr>
        <p:spPr>
          <a:xfrm>
            <a:off x="3218688" y="3218688"/>
            <a:ext cx="2816352" cy="1901952"/>
          </a:xfrm>
          <a:prstGeom prst="rect">
            <a:avLst/>
          </a:prstGeom>
          <a:solidFill>
            <a:srgbClr val="111140">
              <a:alpha val="58000"/>
            </a:srgbClr>
          </a:solidFill>
          <a:ln w="8890">
            <a:solidFill>
              <a:srgbClr val="00BCD4">
                <a:alpha val="50000"/>
              </a:srgbClr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3291840" y="3291840"/>
            <a:ext cx="2670048" cy="1517904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3218688" y="4828032"/>
            <a:ext cx="2816352" cy="292608"/>
          </a:xfrm>
          <a:prstGeom prst="rect">
            <a:avLst/>
          </a:prstGeom>
          <a:solidFill>
            <a:srgbClr val="00BCD4">
              <a:alpha val="28000"/>
            </a:srgbClr>
          </a:solidFill>
          <a:ln w="12700">
            <a:solidFill>
              <a:srgbClr val="00BCD4">
                <a:alpha val="45000"/>
              </a:srgbClr>
            </a:solidFill>
            <a:prstDash val="solid"/>
          </a:ln>
        </p:spPr>
      </p:sp>
      <p:sp>
        <p:nvSpPr>
          <p:cNvPr id="27" name="Text 19"/>
          <p:cNvSpPr/>
          <p:nvPr/>
        </p:nvSpPr>
        <p:spPr>
          <a:xfrm>
            <a:off x="3218688" y="4846320"/>
            <a:ext cx="2816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CGPA Distribution</a:t>
            </a:r>
            <a:endParaRPr lang="en-US" sz="800" dirty="0"/>
          </a:p>
        </p:txBody>
      </p:sp>
      <p:sp>
        <p:nvSpPr>
          <p:cNvPr id="28" name="Shape 20"/>
          <p:cNvSpPr/>
          <p:nvPr/>
        </p:nvSpPr>
        <p:spPr>
          <a:xfrm>
            <a:off x="6089904" y="3218688"/>
            <a:ext cx="2816352" cy="1901952"/>
          </a:xfrm>
          <a:prstGeom prst="rect">
            <a:avLst/>
          </a:prstGeom>
          <a:solidFill>
            <a:srgbClr val="111140">
              <a:alpha val="58000"/>
            </a:srgbClr>
          </a:solidFill>
          <a:ln w="8890">
            <a:solidFill>
              <a:srgbClr val="4B8EF5">
                <a:alpha val="50000"/>
              </a:srgbClr>
            </a:solidFill>
            <a:prstDash val="solid"/>
          </a:ln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6163056" y="3291840"/>
            <a:ext cx="2670048" cy="1517904"/>
          </a:xfrm>
          <a:prstGeom prst="rect">
            <a:avLst/>
          </a:prstGeom>
        </p:spPr>
      </p:pic>
      <p:sp>
        <p:nvSpPr>
          <p:cNvPr id="30" name="Shape 21"/>
          <p:cNvSpPr/>
          <p:nvPr/>
        </p:nvSpPr>
        <p:spPr>
          <a:xfrm>
            <a:off x="6089904" y="4828032"/>
            <a:ext cx="2816352" cy="292608"/>
          </a:xfrm>
          <a:prstGeom prst="rect">
            <a:avLst/>
          </a:prstGeom>
          <a:solidFill>
            <a:srgbClr val="4B8EF5">
              <a:alpha val="28000"/>
            </a:srgbClr>
          </a:solidFill>
          <a:ln w="12700">
            <a:solidFill>
              <a:srgbClr val="4B8EF5">
                <a:alpha val="45000"/>
              </a:srgbClr>
            </a:solidFill>
            <a:prstDash val="solid"/>
          </a:ln>
        </p:spPr>
      </p:sp>
      <p:sp>
        <p:nvSpPr>
          <p:cNvPr id="31" name="Text 22"/>
          <p:cNvSpPr/>
          <p:nvPr/>
        </p:nvSpPr>
        <p:spPr>
          <a:xfrm>
            <a:off x="6089904" y="4846320"/>
            <a:ext cx="2816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Research Analysis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201168"/>
            <a:ext cx="1737360" cy="256032"/>
          </a:xfrm>
          <a:prstGeom prst="roundRect">
            <a:avLst>
              <a:gd name="adj" fmla="val 50000"/>
            </a:avLst>
          </a:prstGeom>
          <a:solidFill>
            <a:srgbClr val="4B8EF5">
              <a:alpha val="28000"/>
            </a:srgbClr>
          </a:solidFill>
          <a:ln w="8890">
            <a:solidFill>
              <a:srgbClr val="4B8EF5">
                <a:alpha val="72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2286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INSIGHTS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457200" y="548640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Model 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2286000" y="548640"/>
            <a:ext cx="5486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B8EF5"/>
                </a:solidFill>
              </a:rPr>
              <a:t>Insights Page</a:t>
            </a:r>
            <a:endParaRPr lang="en-US" sz="3600" dirty="0"/>
          </a:p>
        </p:txBody>
      </p:sp>
      <p:sp>
        <p:nvSpPr>
          <p:cNvPr id="7" name="Shape 4"/>
          <p:cNvSpPr/>
          <p:nvPr/>
        </p:nvSpPr>
        <p:spPr>
          <a:xfrm>
            <a:off x="411480" y="1261872"/>
            <a:ext cx="8321040" cy="3639312"/>
          </a:xfrm>
          <a:prstGeom prst="rect">
            <a:avLst/>
          </a:prstGeom>
          <a:solidFill>
            <a:srgbClr val="111140">
              <a:alpha val="58000"/>
            </a:srgbClr>
          </a:solidFill>
          <a:ln w="8890">
            <a:solidFill>
              <a:srgbClr val="4B8EF5">
                <a:alpha val="52000"/>
              </a:srgbClr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30352" y="1353312"/>
            <a:ext cx="8083296" cy="34015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0" y="4791456"/>
            <a:ext cx="9144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AA"/>
                </a:solidFill>
              </a:rPr>
              <a:t>R² Score · MAE · RMSE · Feature Importance · Training Pipeline · Coefficients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201168"/>
            <a:ext cx="1737360" cy="256032"/>
          </a:xfrm>
          <a:prstGeom prst="roundRect">
            <a:avLst>
              <a:gd name="adj" fmla="val 50000"/>
            </a:avLst>
          </a:prstGeom>
          <a:solidFill>
            <a:srgbClr val="FF7043">
              <a:alpha val="28000"/>
            </a:srgbClr>
          </a:solidFill>
          <a:ln w="8890">
            <a:solidFill>
              <a:srgbClr val="FF7043">
                <a:alpha val="72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2286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RESULTS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457200" y="548640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Results &amp; 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3291840" y="548640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7043"/>
                </a:solidFill>
              </a:rPr>
              <a:t>Performance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438912" y="1298448"/>
            <a:ext cx="2029968" cy="1298448"/>
          </a:xfrm>
          <a:prstGeom prst="rect">
            <a:avLst/>
          </a:prstGeom>
          <a:solidFill>
            <a:srgbClr val="111140">
              <a:alpha val="58000"/>
            </a:srgbClr>
          </a:solidFill>
          <a:ln w="8890">
            <a:solidFill>
              <a:srgbClr val="4B8EF5">
                <a:alpha val="5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38912" y="1371600"/>
            <a:ext cx="20299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B8EF5"/>
                </a:solidFill>
              </a:rPr>
              <a:t>96%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438912" y="1965960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Accuracy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38912" y="2267712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9AA"/>
                </a:solidFill>
              </a:rPr>
              <a:t>MAE-based accuracy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2615184" y="1298448"/>
            <a:ext cx="2029968" cy="1298448"/>
          </a:xfrm>
          <a:prstGeom prst="rect">
            <a:avLst/>
          </a:prstGeom>
          <a:solidFill>
            <a:srgbClr val="111140">
              <a:alpha val="58000"/>
            </a:srgbClr>
          </a:solidFill>
          <a:ln w="8890">
            <a:solidFill>
              <a:srgbClr val="00D4FF">
                <a:alpha val="5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615184" y="1371600"/>
            <a:ext cx="20299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FF"/>
                </a:solidFill>
              </a:rPr>
              <a:t>81.88%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2615184" y="1965960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R² Score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615184" y="2267712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9AA"/>
                </a:solidFill>
              </a:rPr>
              <a:t>Variance explained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791456" y="1298448"/>
            <a:ext cx="2029968" cy="1298448"/>
          </a:xfrm>
          <a:prstGeom prst="rect">
            <a:avLst/>
          </a:prstGeom>
          <a:solidFill>
            <a:srgbClr val="111140">
              <a:alpha val="58000"/>
            </a:srgbClr>
          </a:solidFill>
          <a:ln w="8890">
            <a:solidFill>
              <a:srgbClr val="7B5CF0">
                <a:alpha val="5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91456" y="1371600"/>
            <a:ext cx="20299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B5CF0"/>
                </a:solidFill>
              </a:rPr>
              <a:t>0.0427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4791456" y="1965960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MAE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791456" y="2267712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9AA"/>
                </a:solidFill>
              </a:rPr>
              <a:t>Mean Absolute Error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967728" y="1298448"/>
            <a:ext cx="2029968" cy="1298448"/>
          </a:xfrm>
          <a:prstGeom prst="rect">
            <a:avLst/>
          </a:prstGeom>
          <a:solidFill>
            <a:srgbClr val="111140">
              <a:alpha val="58000"/>
            </a:srgbClr>
          </a:solidFill>
          <a:ln w="8890">
            <a:solidFill>
              <a:srgbClr val="FF7043">
                <a:alpha val="5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967728" y="1371600"/>
            <a:ext cx="20299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7043"/>
                </a:solidFill>
              </a:rPr>
              <a:t>72%</a:t>
            </a:r>
            <a:endParaRPr lang="en-US" sz="2800" dirty="0"/>
          </a:p>
        </p:txBody>
      </p:sp>
      <p:sp>
        <p:nvSpPr>
          <p:cNvPr id="21" name="Text 18"/>
          <p:cNvSpPr/>
          <p:nvPr/>
        </p:nvSpPr>
        <p:spPr>
          <a:xfrm>
            <a:off x="6967728" y="1965960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Avg Chance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967728" y="2267712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9AA"/>
                </a:solidFill>
              </a:rPr>
              <a:t>Avg admission chance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38912" y="2761488"/>
            <a:ext cx="8266176" cy="2148840"/>
          </a:xfrm>
          <a:prstGeom prst="rect">
            <a:avLst/>
          </a:prstGeom>
          <a:solidFill>
            <a:srgbClr val="111140">
              <a:alpha val="58000"/>
            </a:srgbClr>
          </a:solidFill>
          <a:ln w="8890">
            <a:solidFill>
              <a:srgbClr val="7B5CF0">
                <a:alpha val="50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38912" y="2834640"/>
            <a:ext cx="8266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7B5CF0"/>
                </a:solidFill>
              </a:rPr>
              <a:t>ACHIEVEMENTS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594360" y="3236976"/>
            <a:ext cx="201168" cy="201168"/>
          </a:xfrm>
          <a:prstGeom prst="ellipse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14400" y="3182112"/>
            <a:ext cx="7589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96% accuracy — Linear Regression with MAE of 0.0427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594360" y="3639312"/>
            <a:ext cx="201168" cy="201168"/>
          </a:xfrm>
          <a:prstGeom prst="ellipse">
            <a:avLst/>
          </a:prstGeom>
          <a:solidFill>
            <a:srgbClr val="4B8EF5">
              <a:alpha val="40000"/>
            </a:srgbClr>
          </a:solidFill>
          <a:ln w="12700">
            <a:solidFill>
              <a:srgbClr val="4B8EF5">
                <a:alpha val="60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14400" y="3584448"/>
            <a:ext cx="7589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CGPA is strongest predictor with 0.88 correlation to admission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594360" y="4041648"/>
            <a:ext cx="201168" cy="201168"/>
          </a:xfrm>
          <a:prstGeom prst="ellipse">
            <a:avLst/>
          </a:prstGeom>
          <a:solidFill>
            <a:srgbClr val="7B5CF0">
              <a:alpha val="40000"/>
            </a:srgbClr>
          </a:solidFill>
          <a:ln w="12700">
            <a:solidFill>
              <a:srgbClr val="7B5CF0">
                <a:alpha val="6000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14400" y="3986784"/>
            <a:ext cx="7589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</a:rPr>
              <a:t>Research experience boosts admission probability by ~15%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594360" y="4443984"/>
            <a:ext cx="201168" cy="201168"/>
          </a:xfrm>
          <a:prstGeom prst="ellipse">
            <a:avLst/>
          </a:prstGeom>
          <a:solidFill>
            <a:srgbClr val="FF7043">
              <a:alpha val="40000"/>
            </a:srgbClr>
          </a:solidFill>
          <a:ln w="12700">
            <a:solidFill>
              <a:srgbClr val="FF7043">
                <a:alpha val="6000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14400" y="4389120"/>
            <a:ext cx="7589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</a:rPr>
              <a:t>Full-stack project: 6 charts + dataset explorer + model insights + prediction UI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201168"/>
            <a:ext cx="1737360" cy="256032"/>
          </a:xfrm>
          <a:prstGeom prst="roundRect">
            <a:avLst>
              <a:gd name="adj" fmla="val 50000"/>
            </a:avLst>
          </a:prstGeom>
          <a:solidFill>
            <a:srgbClr val="7B5CF0">
              <a:alpha val="28000"/>
            </a:srgbClr>
          </a:solidFill>
          <a:ln w="8890">
            <a:solidFill>
              <a:srgbClr val="7B5CF0">
                <a:alpha val="72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2286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CONCLUSION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457200" y="548640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Conclusion &amp; 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3474720" y="548640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B5CF0"/>
                </a:solidFill>
              </a:rPr>
              <a:t>Future Scope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411480" y="1261872"/>
            <a:ext cx="4224528" cy="3621024"/>
          </a:xfrm>
          <a:prstGeom prst="rect">
            <a:avLst/>
          </a:prstGeom>
          <a:solidFill>
            <a:srgbClr val="111140">
              <a:alpha val="58000"/>
            </a:srgbClr>
          </a:solidFill>
          <a:ln w="8890">
            <a:solidFill>
              <a:srgbClr val="00D4FF">
                <a:alpha val="5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1353312"/>
            <a:ext cx="42245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00D4FF"/>
                </a:solidFill>
              </a:rPr>
              <a:t>CONCLUSION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66928" y="1847088"/>
            <a:ext cx="219456" cy="219456"/>
          </a:xfrm>
          <a:prstGeom prst="ellipse">
            <a:avLst/>
          </a:prstGeom>
          <a:solidFill>
            <a:srgbClr val="00D4FF">
              <a:alpha val="38000"/>
            </a:srgbClr>
          </a:solidFill>
          <a:ln w="12700">
            <a:solidFill>
              <a:srgbClr val="00D4FF">
                <a:alpha val="58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17373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System predicts admission probability with 96% accuracy.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66928" y="2414016"/>
            <a:ext cx="219456" cy="219456"/>
          </a:xfrm>
          <a:prstGeom prst="ellipse">
            <a:avLst/>
          </a:prstGeom>
          <a:solidFill>
            <a:srgbClr val="00D4FF">
              <a:alpha val="38000"/>
            </a:srgbClr>
          </a:solidFill>
          <a:ln w="12700">
            <a:solidFill>
              <a:srgbClr val="00D4FF">
                <a:alpha val="58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4400" y="230428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CGPA is the strongest predictor (0.88 correlation).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66928" y="2980944"/>
            <a:ext cx="219456" cy="219456"/>
          </a:xfrm>
          <a:prstGeom prst="ellipse">
            <a:avLst/>
          </a:prstGeom>
          <a:solidFill>
            <a:srgbClr val="00D4FF">
              <a:alpha val="38000"/>
            </a:srgbClr>
          </a:solidFill>
          <a:ln w="12700">
            <a:solidFill>
              <a:srgbClr val="00D4FF">
                <a:alpha val="58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14400" y="2871216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Research experience boosts chances by ~15%.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66928" y="3547872"/>
            <a:ext cx="219456" cy="219456"/>
          </a:xfrm>
          <a:prstGeom prst="ellipse">
            <a:avLst/>
          </a:prstGeom>
          <a:solidFill>
            <a:srgbClr val="00D4FF">
              <a:alpha val="38000"/>
            </a:srgbClr>
          </a:solidFill>
          <a:ln w="12700">
            <a:solidFill>
              <a:srgbClr val="00D4FF">
                <a:alpha val="58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4400" y="3438144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Interactive Flask dashboard with full ML pipeline.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66928" y="4114800"/>
            <a:ext cx="219456" cy="219456"/>
          </a:xfrm>
          <a:prstGeom prst="ellipse">
            <a:avLst/>
          </a:prstGeom>
          <a:solidFill>
            <a:srgbClr val="00D4FF">
              <a:alpha val="38000"/>
            </a:srgbClr>
          </a:solidFill>
          <a:ln w="12700">
            <a:solidFill>
              <a:srgbClr val="00D4FF">
                <a:alpha val="58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14400" y="400507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End-to-end project: Data → Model → Web App.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773168" y="1261872"/>
            <a:ext cx="4005072" cy="3621024"/>
          </a:xfrm>
          <a:prstGeom prst="rect">
            <a:avLst/>
          </a:prstGeom>
          <a:solidFill>
            <a:srgbClr val="111140">
              <a:alpha val="58000"/>
            </a:srgbClr>
          </a:solidFill>
          <a:ln w="8890">
            <a:solidFill>
              <a:srgbClr val="FF7043">
                <a:alpha val="5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773168" y="1353312"/>
            <a:ext cx="4005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7043"/>
                </a:solidFill>
              </a:rPr>
              <a:t>FUTURE SCOPE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4864608" y="1755648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🗄️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321808" y="1773936"/>
            <a:ext cx="33101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8EF5"/>
                </a:solidFill>
              </a:rPr>
              <a:t>Larger Datasets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321808" y="2029968"/>
            <a:ext cx="33101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</a:rPr>
              <a:t>Use 10,000+ real records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4864608" y="2340864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🤖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321808" y="2359152"/>
            <a:ext cx="33101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</a:rPr>
              <a:t>Advanced ML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321808" y="2615184"/>
            <a:ext cx="33101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</a:rPr>
              <a:t>Random Forest, XGBoost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4864608" y="2926080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📱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5321808" y="2944368"/>
            <a:ext cx="33101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5CF0"/>
                </a:solidFill>
              </a:rPr>
              <a:t>Mobile App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5321808" y="3200400"/>
            <a:ext cx="33101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</a:rPr>
              <a:t>iOS/Android application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4864608" y="3511296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🌐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5321808" y="3529584"/>
            <a:ext cx="33101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043"/>
                </a:solidFill>
              </a:rPr>
              <a:t>Live API Data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5321808" y="3785616"/>
            <a:ext cx="33101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</a:rPr>
              <a:t>Real-time university feeds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4864608" y="4096512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🔐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5321808" y="4114800"/>
            <a:ext cx="33101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CD4"/>
                </a:solidFill>
              </a:rPr>
              <a:t>User Profiles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5321808" y="4370832"/>
            <a:ext cx="33101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</a:rPr>
              <a:t>Login &amp; track history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201168"/>
            <a:ext cx="1737360" cy="256032"/>
          </a:xfrm>
          <a:prstGeom prst="roundRect">
            <a:avLst>
              <a:gd name="adj" fmla="val 50000"/>
            </a:avLst>
          </a:prstGeom>
          <a:solidFill>
            <a:srgbClr val="4B8EF5">
              <a:alpha val="28000"/>
            </a:srgbClr>
          </a:solidFill>
          <a:ln w="8890">
            <a:solidFill>
              <a:srgbClr val="4B8EF5">
                <a:alpha val="72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2286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REFERENCES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References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438912" y="1389888"/>
            <a:ext cx="4133088" cy="1051560"/>
          </a:xfrm>
          <a:prstGeom prst="rect">
            <a:avLst/>
          </a:prstGeom>
          <a:solidFill>
            <a:srgbClr val="111140">
              <a:alpha val="58000"/>
            </a:srgbClr>
          </a:solidFill>
          <a:ln w="8890">
            <a:solidFill>
              <a:srgbClr val="FF7043">
                <a:alpha val="4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1499616"/>
            <a:ext cx="640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261872" y="1481328"/>
            <a:ext cx="3182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Dataset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261872" y="1792224"/>
            <a:ext cx="3182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Admission Predict Ver1.1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261872" y="2029968"/>
            <a:ext cx="3182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7043"/>
                </a:solidFill>
              </a:rPr>
              <a:t>kaggle.com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645152" y="1389888"/>
            <a:ext cx="4133088" cy="1051560"/>
          </a:xfrm>
          <a:prstGeom prst="rect">
            <a:avLst/>
          </a:prstGeom>
          <a:solidFill>
            <a:srgbClr val="111140">
              <a:alpha val="58000"/>
            </a:srgbClr>
          </a:solidFill>
          <a:ln w="8890">
            <a:solidFill>
              <a:srgbClr val="4B8EF5">
                <a:alpha val="45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54880" y="1499616"/>
            <a:ext cx="640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🐍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5468112" y="1481328"/>
            <a:ext cx="3182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Python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468112" y="1792224"/>
            <a:ext cx="3182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Official Python Docs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468112" y="2029968"/>
            <a:ext cx="3182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B8EF5"/>
                </a:solidFill>
              </a:rPr>
              <a:t>docs.python.org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38912" y="2514600"/>
            <a:ext cx="4133088" cy="1051560"/>
          </a:xfrm>
          <a:prstGeom prst="rect">
            <a:avLst/>
          </a:prstGeom>
          <a:solidFill>
            <a:srgbClr val="111140">
              <a:alpha val="58000"/>
            </a:srgbClr>
          </a:solidFill>
          <a:ln w="8890">
            <a:solidFill>
              <a:srgbClr val="00D4FF">
                <a:alpha val="45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8640" y="2624328"/>
            <a:ext cx="640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1261872" y="2606040"/>
            <a:ext cx="3182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Scikit-Learn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261872" y="2916936"/>
            <a:ext cx="3182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ML Library Docs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261872" y="3154680"/>
            <a:ext cx="3182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0D4FF"/>
                </a:solidFill>
              </a:rPr>
              <a:t>scikit-learn.org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4645152" y="2514600"/>
            <a:ext cx="4133088" cy="1051560"/>
          </a:xfrm>
          <a:prstGeom prst="rect">
            <a:avLst/>
          </a:prstGeom>
          <a:solidFill>
            <a:srgbClr val="111140">
              <a:alpha val="58000"/>
            </a:srgbClr>
          </a:solidFill>
          <a:ln w="8890">
            <a:solidFill>
              <a:srgbClr val="7B5CF0">
                <a:alpha val="45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754880" y="2624328"/>
            <a:ext cx="640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🐼</a:t>
            </a: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5468112" y="2606040"/>
            <a:ext cx="3182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Pandas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468112" y="2916936"/>
            <a:ext cx="3182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Data Analysis Library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468112" y="3154680"/>
            <a:ext cx="3182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B5CF0"/>
                </a:solidFill>
              </a:rPr>
              <a:t>pandas.pydata.org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438912" y="3639312"/>
            <a:ext cx="4133088" cy="1051560"/>
          </a:xfrm>
          <a:prstGeom prst="rect">
            <a:avLst/>
          </a:prstGeom>
          <a:solidFill>
            <a:srgbClr val="111140">
              <a:alpha val="58000"/>
            </a:srgbClr>
          </a:solidFill>
          <a:ln w="8890">
            <a:solidFill>
              <a:srgbClr val="00BCD4">
                <a:alpha val="4500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48640" y="3749040"/>
            <a:ext cx="640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28" name="Text 25"/>
          <p:cNvSpPr/>
          <p:nvPr/>
        </p:nvSpPr>
        <p:spPr>
          <a:xfrm>
            <a:off x="1261872" y="3730752"/>
            <a:ext cx="3182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Matplotlib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1261872" y="4041648"/>
            <a:ext cx="3182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Visualization Library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261872" y="4279392"/>
            <a:ext cx="3182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0BCD4"/>
                </a:solidFill>
              </a:rPr>
              <a:t>matplotlib.org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4645152" y="3639312"/>
            <a:ext cx="4133088" cy="1051560"/>
          </a:xfrm>
          <a:prstGeom prst="rect">
            <a:avLst/>
          </a:prstGeom>
          <a:solidFill>
            <a:srgbClr val="111140">
              <a:alpha val="58000"/>
            </a:srgbClr>
          </a:solidFill>
          <a:ln w="8890">
            <a:solidFill>
              <a:srgbClr val="FF7043">
                <a:alpha val="4500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754880" y="3749040"/>
            <a:ext cx="640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33" name="Text 30"/>
          <p:cNvSpPr/>
          <p:nvPr/>
        </p:nvSpPr>
        <p:spPr>
          <a:xfrm>
            <a:off x="5468112" y="3730752"/>
            <a:ext cx="3182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Flask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5468112" y="4041648"/>
            <a:ext cx="3182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Web Framework Docs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468112" y="4279392"/>
            <a:ext cx="3182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7043"/>
                </a:solidFill>
              </a:rPr>
              <a:t>flask.palletsprojects.com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77240" y="749808"/>
            <a:ext cx="7589520" cy="3639312"/>
          </a:xfrm>
          <a:prstGeom prst="roundRect">
            <a:avLst>
              <a:gd name="adj" fmla="val 7035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8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05840" y="1051560"/>
            <a:ext cx="7132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</a:rPr>
              <a:t>Thank You!</a:t>
            </a:r>
            <a:endParaRPr lang="en-US" sz="5800" dirty="0"/>
          </a:p>
        </p:txBody>
      </p:sp>
      <p:sp>
        <p:nvSpPr>
          <p:cNvPr id="5" name="Text 2"/>
          <p:cNvSpPr/>
          <p:nvPr/>
        </p:nvSpPr>
        <p:spPr>
          <a:xfrm>
            <a:off x="1005840" y="2084832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B8EF5"/>
                </a:solidFill>
              </a:rPr>
              <a:t>PredictX</a:t>
            </a:r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 — Graduate Admission Prediction System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834640" y="2615184"/>
            <a:ext cx="3474720" cy="36576"/>
          </a:xfrm>
          <a:prstGeom prst="rect">
            <a:avLst/>
          </a:prstGeom>
          <a:solidFill>
            <a:srgbClr val="4B8EF5"/>
          </a:solidFill>
          <a:ln w="12700">
            <a:solidFill>
              <a:srgbClr val="4B8EF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05840" y="278892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9AA"/>
                </a:solidFill>
              </a:rPr>
              <a:t>Shahil Pathan  ·  Mubin Malek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05840" y="3127248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Guide: Dr. Darshna Rajput  |  Dolat-Usha Institute  |  BCA 2025–26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1938528" y="3657600"/>
            <a:ext cx="1847088" cy="841248"/>
          </a:xfrm>
          <a:prstGeom prst="rect">
            <a:avLst/>
          </a:prstGeom>
          <a:solidFill>
            <a:srgbClr val="111140">
              <a:alpha val="58000"/>
            </a:srgbClr>
          </a:solidFill>
          <a:ln w="8890">
            <a:solidFill>
              <a:srgbClr val="4B8EF5">
                <a:alpha val="38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938528" y="3685032"/>
            <a:ext cx="18470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🎓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938528" y="4096512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9AA"/>
                </a:solidFill>
              </a:rPr>
              <a:t>BCA Program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995928" y="3657600"/>
            <a:ext cx="1847088" cy="841248"/>
          </a:xfrm>
          <a:prstGeom prst="rect">
            <a:avLst/>
          </a:prstGeom>
          <a:solidFill>
            <a:srgbClr val="111140">
              <a:alpha val="58000"/>
            </a:srgbClr>
          </a:solidFill>
          <a:ln w="8890">
            <a:solidFill>
              <a:srgbClr val="4B8EF5">
                <a:alpha val="38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995928" y="3685032"/>
            <a:ext cx="18470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🏛️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3995928" y="4096512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9AA"/>
                </a:solidFill>
              </a:rPr>
              <a:t>Dolat-Usha Inst.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053328" y="3657600"/>
            <a:ext cx="1847088" cy="841248"/>
          </a:xfrm>
          <a:prstGeom prst="rect">
            <a:avLst/>
          </a:prstGeom>
          <a:solidFill>
            <a:srgbClr val="111140">
              <a:alpha val="58000"/>
            </a:srgbClr>
          </a:solidFill>
          <a:ln w="8890">
            <a:solidFill>
              <a:srgbClr val="4B8EF5">
                <a:alpha val="38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53328" y="3685032"/>
            <a:ext cx="18470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📅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053328" y="4096512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9AA"/>
                </a:solidFill>
              </a:rPr>
              <a:t>2025–2026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2026-03-19T03:59:08Z</dcterms:created>
  <dcterms:modified xsi:type="dcterms:W3CDTF">2026-03-19T03:59:08Z</dcterms:modified>
</cp:coreProperties>
</file>